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7" r:id="rId3"/>
    <p:sldId id="260" r:id="rId4"/>
    <p:sldId id="263" r:id="rId5"/>
    <p:sldId id="264" r:id="rId6"/>
    <p:sldId id="273" r:id="rId7"/>
    <p:sldId id="268" r:id="rId8"/>
    <p:sldId id="272" r:id="rId9"/>
    <p:sldId id="270" r:id="rId10"/>
    <p:sldId id="274" r:id="rId20"/>
    <p:sldId id="271" r:id="rId11"/>
    <p:sldId id="261" r:id="rId12"/>
    <p:sldId id="269" r:id="rId13"/>
  </p:sldIdLst>
  <p:sldSz cx="12192000" cy="6858000"/>
  <p:notesSz cx="6797675" cy="987425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5" d="100"/>
          <a:sy n="65" d="100"/>
        </p:scale>
        <p:origin x="858"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5427"/>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50443" y="0"/>
            <a:ext cx="2945659" cy="495427"/>
          </a:xfrm>
          <a:prstGeom prst="rect">
            <a:avLst/>
          </a:prstGeom>
        </p:spPr>
        <p:txBody>
          <a:bodyPr vert="horz" lIns="91440" tIns="45720" rIns="91440" bIns="45720" rtlCol="0"/>
          <a:lstStyle>
            <a:lvl1pPr algn="r">
              <a:defRPr sz="1200"/>
            </a:lvl1pPr>
          </a:lstStyle>
          <a:p>
            <a:fld id="{E9A30BF6-7621-430F-BF1D-D19D812B588C}" type="datetimeFigureOut">
              <a:rPr lang="en-GB" smtClean="0"/>
              <a:t>05/02/2025</a:t>
            </a:fld>
            <a:endParaRPr lang="en-GB"/>
          </a:p>
        </p:txBody>
      </p:sp>
      <p:sp>
        <p:nvSpPr>
          <p:cNvPr id="4" name="Footer Placeholder 3"/>
          <p:cNvSpPr>
            <a:spLocks noGrp="1"/>
          </p:cNvSpPr>
          <p:nvPr>
            <p:ph type="ftr" sz="quarter" idx="2"/>
          </p:nvPr>
        </p:nvSpPr>
        <p:spPr>
          <a:xfrm>
            <a:off x="0" y="9378824"/>
            <a:ext cx="2945659" cy="49542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50443" y="9378824"/>
            <a:ext cx="2945659" cy="495426"/>
          </a:xfrm>
          <a:prstGeom prst="rect">
            <a:avLst/>
          </a:prstGeom>
        </p:spPr>
        <p:txBody>
          <a:bodyPr vert="horz" lIns="91440" tIns="45720" rIns="91440" bIns="45720" rtlCol="0" anchor="b"/>
          <a:lstStyle>
            <a:lvl1pPr algn="r">
              <a:defRPr sz="1200"/>
            </a:lvl1pPr>
          </a:lstStyle>
          <a:p>
            <a:fld id="{4ED5777D-0745-4AE3-89C2-273EE7161840}" type="slidenum">
              <a:rPr lang="en-GB" smtClean="0"/>
              <a:t>‹#›</a:t>
            </a:fld>
            <a:endParaRPr lang="en-GB"/>
          </a:p>
        </p:txBody>
      </p:sp>
    </p:spTree>
    <p:extLst>
      <p:ext uri="{BB962C8B-B14F-4D97-AF65-F5344CB8AC3E}">
        <p14:creationId xmlns:p14="http://schemas.microsoft.com/office/powerpoint/2010/main" val="1820672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44958" cy="495765"/>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1098" y="1"/>
            <a:ext cx="2944958" cy="495765"/>
          </a:xfrm>
          <a:prstGeom prst="rect">
            <a:avLst/>
          </a:prstGeom>
        </p:spPr>
        <p:txBody>
          <a:bodyPr vert="horz" lIns="91440" tIns="45720" rIns="91440" bIns="45720" rtlCol="0"/>
          <a:lstStyle>
            <a:lvl1pPr algn="r">
              <a:defRPr sz="1200"/>
            </a:lvl1pPr>
          </a:lstStyle>
          <a:p>
            <a:fld id="{819D3626-7678-463A-B931-DA160CFBCF66}" type="datetimeFigureOut">
              <a:rPr lang="en-GB" smtClean="0"/>
              <a:t>05/02/2025</a:t>
            </a:fld>
            <a:endParaRPr lang="en-GB"/>
          </a:p>
        </p:txBody>
      </p:sp>
      <p:sp>
        <p:nvSpPr>
          <p:cNvPr id="4" name="Slide Image Placeholder 3"/>
          <p:cNvSpPr>
            <a:spLocks noGrp="1" noRot="1" noChangeAspect="1"/>
          </p:cNvSpPr>
          <p:nvPr>
            <p:ph type="sldImg" idx="2"/>
          </p:nvPr>
        </p:nvSpPr>
        <p:spPr>
          <a:xfrm>
            <a:off x="438150" y="1235075"/>
            <a:ext cx="5921375" cy="333057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606" y="4752398"/>
            <a:ext cx="5438464" cy="388717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378485"/>
            <a:ext cx="2944958" cy="49576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1098" y="9378485"/>
            <a:ext cx="2944958" cy="495765"/>
          </a:xfrm>
          <a:prstGeom prst="rect">
            <a:avLst/>
          </a:prstGeom>
        </p:spPr>
        <p:txBody>
          <a:bodyPr vert="horz" lIns="91440" tIns="45720" rIns="91440" bIns="45720" rtlCol="0" anchor="b"/>
          <a:lstStyle>
            <a:lvl1pPr algn="r">
              <a:defRPr sz="1200"/>
            </a:lvl1pPr>
          </a:lstStyle>
          <a:p>
            <a:fld id="{E7FBE6E5-A34C-44AB-8866-F8A3F4B85DD6}" type="slidenum">
              <a:rPr lang="en-GB" smtClean="0"/>
              <a:t>‹#›</a:t>
            </a:fld>
            <a:endParaRPr lang="en-GB"/>
          </a:p>
        </p:txBody>
      </p:sp>
    </p:spTree>
    <p:extLst>
      <p:ext uri="{BB962C8B-B14F-4D97-AF65-F5344CB8AC3E}">
        <p14:creationId xmlns:p14="http://schemas.microsoft.com/office/powerpoint/2010/main" val="30492033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A1CEFE56-E409-4611-84B6-78D55979C5E7}" type="datetime1">
              <a:rPr lang="en-GB" smtClean="0"/>
              <a:t>05/02/2025</a:t>
            </a:fld>
            <a:endParaRPr lang="en-GB"/>
          </a:p>
        </p:txBody>
      </p:sp>
      <p:sp>
        <p:nvSpPr>
          <p:cNvPr id="5" name="Footer Placeholder 4"/>
          <p:cNvSpPr>
            <a:spLocks noGrp="1"/>
          </p:cNvSpPr>
          <p:nvPr>
            <p:ph type="ftr" sz="quarter" idx="11"/>
          </p:nvPr>
        </p:nvSpPr>
        <p:spPr/>
        <p:txBody>
          <a:bodyPr/>
          <a:lstStyle/>
          <a:p>
            <a:r>
              <a:rPr lang="en-US"/>
              <a:t>Information Technology Department / Seminar Presentation 2021</a:t>
            </a:r>
            <a:endParaRPr lang="en-GB"/>
          </a:p>
        </p:txBody>
      </p:sp>
      <p:sp>
        <p:nvSpPr>
          <p:cNvPr id="6" name="Slide Number Placeholder 5"/>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115612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C5301482-A7F7-44F1-A175-734AED33DA15}" type="datetime1">
              <a:rPr lang="en-GB" smtClean="0"/>
              <a:t>05/02/2025</a:t>
            </a:fld>
            <a:endParaRPr lang="en-GB"/>
          </a:p>
        </p:txBody>
      </p:sp>
      <p:sp>
        <p:nvSpPr>
          <p:cNvPr id="5" name="Footer Placeholder 4"/>
          <p:cNvSpPr>
            <a:spLocks noGrp="1"/>
          </p:cNvSpPr>
          <p:nvPr>
            <p:ph type="ftr" sz="quarter" idx="11"/>
          </p:nvPr>
        </p:nvSpPr>
        <p:spPr/>
        <p:txBody>
          <a:bodyPr/>
          <a:lstStyle/>
          <a:p>
            <a:r>
              <a:rPr lang="en-US"/>
              <a:t>Information Technology Department / Seminar Presentation 2021</a:t>
            </a:r>
            <a:endParaRPr lang="en-GB"/>
          </a:p>
        </p:txBody>
      </p:sp>
      <p:sp>
        <p:nvSpPr>
          <p:cNvPr id="6" name="Slide Number Placeholder 5"/>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14034740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66DF6F9-F195-40B3-A65B-F390EA6476BF}" type="datetime1">
              <a:rPr lang="en-GB" smtClean="0"/>
              <a:t>05/02/2025</a:t>
            </a:fld>
            <a:endParaRPr lang="en-GB"/>
          </a:p>
        </p:txBody>
      </p:sp>
      <p:sp>
        <p:nvSpPr>
          <p:cNvPr id="5" name="Footer Placeholder 4"/>
          <p:cNvSpPr>
            <a:spLocks noGrp="1"/>
          </p:cNvSpPr>
          <p:nvPr>
            <p:ph type="ftr" sz="quarter" idx="11"/>
          </p:nvPr>
        </p:nvSpPr>
        <p:spPr/>
        <p:txBody>
          <a:bodyPr/>
          <a:lstStyle/>
          <a:p>
            <a:r>
              <a:rPr lang="en-US"/>
              <a:t>Information Technology Department / Seminar Presentation 2021</a:t>
            </a:r>
            <a:endParaRPr lang="en-GB"/>
          </a:p>
        </p:txBody>
      </p:sp>
      <p:sp>
        <p:nvSpPr>
          <p:cNvPr id="6" name="Slide Number Placeholder 5"/>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9693651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063BBE8F-6F0A-4687-85B5-47336FB8B589}" type="datetime1">
              <a:rPr lang="en-GB" smtClean="0"/>
              <a:t>05/02/2025</a:t>
            </a:fld>
            <a:endParaRPr lang="en-GB"/>
          </a:p>
        </p:txBody>
      </p:sp>
      <p:sp>
        <p:nvSpPr>
          <p:cNvPr id="6" name="Footer Placeholder 5"/>
          <p:cNvSpPr>
            <a:spLocks noGrp="1"/>
          </p:cNvSpPr>
          <p:nvPr>
            <p:ph type="ftr" sz="quarter" idx="11"/>
          </p:nvPr>
        </p:nvSpPr>
        <p:spPr/>
        <p:txBody>
          <a:bodyPr/>
          <a:lstStyle/>
          <a:p>
            <a:r>
              <a:rPr lang="en-US"/>
              <a:t>Information Technology Department / Seminar Presentation 2021</a:t>
            </a:r>
            <a:endParaRPr lang="en-GB"/>
          </a:p>
        </p:txBody>
      </p:sp>
      <p:sp>
        <p:nvSpPr>
          <p:cNvPr id="7" name="Slide Number Placeholder 6"/>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36103070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D9F2696A-03E5-48AD-BD16-61940EDEE003}" type="datetime1">
              <a:rPr lang="en-GB" smtClean="0"/>
              <a:t>05/02/2025</a:t>
            </a:fld>
            <a:endParaRPr lang="en-GB"/>
          </a:p>
        </p:txBody>
      </p:sp>
      <p:sp>
        <p:nvSpPr>
          <p:cNvPr id="8" name="Footer Placeholder 7"/>
          <p:cNvSpPr>
            <a:spLocks noGrp="1"/>
          </p:cNvSpPr>
          <p:nvPr>
            <p:ph type="ftr" sz="quarter" idx="11"/>
          </p:nvPr>
        </p:nvSpPr>
        <p:spPr/>
        <p:txBody>
          <a:bodyPr/>
          <a:lstStyle/>
          <a:p>
            <a:r>
              <a:rPr lang="en-US"/>
              <a:t>Information Technology Department / Seminar Presentation 2021</a:t>
            </a:r>
            <a:endParaRPr lang="en-GB"/>
          </a:p>
        </p:txBody>
      </p:sp>
      <p:sp>
        <p:nvSpPr>
          <p:cNvPr id="9" name="Slide Number Placeholder 8"/>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17290044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EFF28B43-AD91-4B0A-B352-8AD5E6AB1017}" type="datetime1">
              <a:rPr lang="en-GB" smtClean="0"/>
              <a:t>05/02/2025</a:t>
            </a:fld>
            <a:endParaRPr lang="en-GB"/>
          </a:p>
        </p:txBody>
      </p:sp>
      <p:sp>
        <p:nvSpPr>
          <p:cNvPr id="4" name="Footer Placeholder 3"/>
          <p:cNvSpPr>
            <a:spLocks noGrp="1"/>
          </p:cNvSpPr>
          <p:nvPr>
            <p:ph type="ftr" sz="quarter" idx="11"/>
          </p:nvPr>
        </p:nvSpPr>
        <p:spPr/>
        <p:txBody>
          <a:bodyPr/>
          <a:lstStyle/>
          <a:p>
            <a:r>
              <a:rPr lang="en-US"/>
              <a:t>Information Technology Department / Seminar Presentation 2021</a:t>
            </a:r>
            <a:endParaRPr lang="en-GB"/>
          </a:p>
        </p:txBody>
      </p:sp>
      <p:sp>
        <p:nvSpPr>
          <p:cNvPr id="5" name="Slide Number Placeholder 4"/>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15462991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D69C94-1FC0-41EC-9C0A-AB52040020ED}" type="datetime1">
              <a:rPr lang="en-GB" smtClean="0"/>
              <a:t>05/02/2025</a:t>
            </a:fld>
            <a:endParaRPr lang="en-GB"/>
          </a:p>
        </p:txBody>
      </p:sp>
      <p:sp>
        <p:nvSpPr>
          <p:cNvPr id="3" name="Footer Placeholder 2"/>
          <p:cNvSpPr>
            <a:spLocks noGrp="1"/>
          </p:cNvSpPr>
          <p:nvPr>
            <p:ph type="ftr" sz="quarter" idx="11"/>
          </p:nvPr>
        </p:nvSpPr>
        <p:spPr/>
        <p:txBody>
          <a:bodyPr/>
          <a:lstStyle/>
          <a:p>
            <a:r>
              <a:rPr lang="en-US"/>
              <a:t>Information Technology Department / Seminar Presentation 2021</a:t>
            </a:r>
            <a:endParaRPr lang="en-GB"/>
          </a:p>
        </p:txBody>
      </p:sp>
      <p:sp>
        <p:nvSpPr>
          <p:cNvPr id="4" name="Slide Number Placeholder 3"/>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36736178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3F9D360-BA16-419B-BDF3-CE0285C51E50}" type="datetime1">
              <a:rPr lang="en-GB" smtClean="0"/>
              <a:t>05/02/2025</a:t>
            </a:fld>
            <a:endParaRPr lang="en-GB"/>
          </a:p>
        </p:txBody>
      </p:sp>
      <p:sp>
        <p:nvSpPr>
          <p:cNvPr id="6" name="Footer Placeholder 5"/>
          <p:cNvSpPr>
            <a:spLocks noGrp="1"/>
          </p:cNvSpPr>
          <p:nvPr>
            <p:ph type="ftr" sz="quarter" idx="11"/>
          </p:nvPr>
        </p:nvSpPr>
        <p:spPr/>
        <p:txBody>
          <a:bodyPr/>
          <a:lstStyle/>
          <a:p>
            <a:r>
              <a:rPr lang="en-US"/>
              <a:t>Information Technology Department / Seminar Presentation 2021</a:t>
            </a:r>
            <a:endParaRPr lang="en-GB"/>
          </a:p>
        </p:txBody>
      </p:sp>
      <p:sp>
        <p:nvSpPr>
          <p:cNvPr id="7" name="Slide Number Placeholder 6"/>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2319867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4A346B3-4381-474C-9C47-DF3F7EFD488B}" type="datetime1">
              <a:rPr lang="en-GB" smtClean="0"/>
              <a:t>05/02/2025</a:t>
            </a:fld>
            <a:endParaRPr lang="en-GB"/>
          </a:p>
        </p:txBody>
      </p:sp>
      <p:sp>
        <p:nvSpPr>
          <p:cNvPr id="6" name="Footer Placeholder 5"/>
          <p:cNvSpPr>
            <a:spLocks noGrp="1"/>
          </p:cNvSpPr>
          <p:nvPr>
            <p:ph type="ftr" sz="quarter" idx="11"/>
          </p:nvPr>
        </p:nvSpPr>
        <p:spPr/>
        <p:txBody>
          <a:bodyPr/>
          <a:lstStyle/>
          <a:p>
            <a:r>
              <a:rPr lang="en-US"/>
              <a:t>Information Technology Department / Seminar Presentation 2021</a:t>
            </a:r>
            <a:endParaRPr lang="en-GB"/>
          </a:p>
        </p:txBody>
      </p:sp>
      <p:sp>
        <p:nvSpPr>
          <p:cNvPr id="7" name="Slide Number Placeholder 6"/>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3153821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30579F78-A794-45F8-B8CE-795CE3B27278}" type="datetime1">
              <a:rPr lang="en-GB" smtClean="0"/>
              <a:t>05/02/2025</a:t>
            </a:fld>
            <a:endParaRPr lang="en-GB"/>
          </a:p>
        </p:txBody>
      </p:sp>
      <p:sp>
        <p:nvSpPr>
          <p:cNvPr id="5" name="Footer Placeholder 4"/>
          <p:cNvSpPr>
            <a:spLocks noGrp="1"/>
          </p:cNvSpPr>
          <p:nvPr>
            <p:ph type="ftr" sz="quarter" idx="11"/>
          </p:nvPr>
        </p:nvSpPr>
        <p:spPr/>
        <p:txBody>
          <a:bodyPr/>
          <a:lstStyle/>
          <a:p>
            <a:r>
              <a:rPr lang="en-US"/>
              <a:t>Information Technology Department / Seminar Presentation 2021</a:t>
            </a:r>
            <a:endParaRPr lang="en-GB"/>
          </a:p>
        </p:txBody>
      </p:sp>
      <p:sp>
        <p:nvSpPr>
          <p:cNvPr id="6" name="Slide Number Placeholder 5"/>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726184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75349D5E-91C7-4E4C-AF67-67C7E168A5A4}" type="datetime1">
              <a:rPr lang="en-GB" smtClean="0"/>
              <a:t>05/02/2025</a:t>
            </a:fld>
            <a:endParaRPr lang="en-GB"/>
          </a:p>
        </p:txBody>
      </p:sp>
      <p:sp>
        <p:nvSpPr>
          <p:cNvPr id="5" name="Footer Placeholder 4"/>
          <p:cNvSpPr>
            <a:spLocks noGrp="1"/>
          </p:cNvSpPr>
          <p:nvPr>
            <p:ph type="ftr" sz="quarter" idx="11"/>
          </p:nvPr>
        </p:nvSpPr>
        <p:spPr/>
        <p:txBody>
          <a:bodyPr/>
          <a:lstStyle/>
          <a:p>
            <a:r>
              <a:rPr lang="en-US"/>
              <a:t>Information Technology Department / Seminar Presentation 2021</a:t>
            </a:r>
            <a:endParaRPr lang="en-GB"/>
          </a:p>
        </p:txBody>
      </p:sp>
      <p:sp>
        <p:nvSpPr>
          <p:cNvPr id="6" name="Slide Number Placeholder 5"/>
          <p:cNvSpPr>
            <a:spLocks noGrp="1"/>
          </p:cNvSpPr>
          <p:nvPr>
            <p:ph type="sldNum" sz="quarter" idx="12"/>
          </p:nvPr>
        </p:nvSpPr>
        <p:spPr/>
        <p:txBody>
          <a:bodyPr/>
          <a:lstStyle/>
          <a:p>
            <a:fld id="{60CB7500-84E7-42C8-9A57-AC33187A24A8}" type="slidenum">
              <a:rPr lang="en-GB" smtClean="0"/>
              <a:t>‹#›</a:t>
            </a:fld>
            <a:endParaRPr lang="en-GB"/>
          </a:p>
        </p:txBody>
      </p:sp>
    </p:spTree>
    <p:extLst>
      <p:ext uri="{BB962C8B-B14F-4D97-AF65-F5344CB8AC3E}">
        <p14:creationId xmlns:p14="http://schemas.microsoft.com/office/powerpoint/2010/main" val="38801697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2A14E86-C9A5-4B56-BCDB-225823666A33}" type="datetime1">
              <a:rPr lang="en-GB" smtClean="0"/>
              <a:t>05/02/2025</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Information Technology Department / Seminar Presentation 2021</a:t>
            </a:r>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0CB7500-84E7-42C8-9A57-AC33187A24A8}" type="slidenum">
              <a:rPr lang="en-GB" smtClean="0"/>
              <a:t>‹#›</a:t>
            </a:fld>
            <a:endParaRPr lang="en-GB"/>
          </a:p>
        </p:txBody>
      </p:sp>
    </p:spTree>
    <p:extLst>
      <p:ext uri="{BB962C8B-B14F-4D97-AF65-F5344CB8AC3E}">
        <p14:creationId xmlns:p14="http://schemas.microsoft.com/office/powerpoint/2010/main" val="1495828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e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2.jp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eg"/><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eg"/><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2.jpg"/><Relationship Id="rId4" Type="http://schemas.openxmlformats.org/officeDocument/2006/relationships/image" Target="../media/image9.png"/><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2.jp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eg"/><Relationship Id="rId3" Type="http://schemas.openxmlformats.org/officeDocument/2006/relationships/image" Target="../media/image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eg"/><Relationship Id="rId3"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1097280"/>
            <a:ext cx="9966960" cy="1554480"/>
          </a:xfrm>
        </p:spPr>
        <p:txBody>
          <a:bodyPr>
            <a:normAutofit/>
          </a:bodyPr>
          <a:lstStyle/>
          <a:p>
            <a:pPr algn="ctr"/>
            <a:r>
              <a:rPr lang="en-GB" sz="3200" dirty="0">
                <a:latin typeface="Corbel" panose="020B0503020204020204" pitchFamily="34" charset="0"/>
                <a:cs typeface="Arial" panose="020B0604020202020204" pitchFamily="34" charset="0"/>
              </a:rPr>
              <a:t>MULTI-AGENT REINFORCEMENT LEARNING FOR ADAPTIVE TCP CONGESTION CONTROL</a:t>
            </a:r>
          </a:p>
        </p:txBody>
      </p:sp>
      <p:sp>
        <p:nvSpPr>
          <p:cNvPr id="3" name="Content Placeholder 2"/>
          <p:cNvSpPr>
            <a:spLocks noGrp="1"/>
          </p:cNvSpPr>
          <p:nvPr>
            <p:ph idx="1"/>
          </p:nvPr>
        </p:nvSpPr>
        <p:spPr>
          <a:xfrm>
            <a:off x="1828800" y="3108960"/>
            <a:ext cx="8503920" cy="2377440"/>
          </a:xfrm>
        </p:spPr>
        <p:txBody>
          <a:bodyPr>
            <a:normAutofit/>
          </a:bodyPr>
          <a:lstStyle/>
          <a:p>
            <a:pPr marL="0" indent="0">
              <a:buNone/>
            </a:pPr>
            <a:r>
              <a:rPr lang="en-GB" sz="2800" dirty="0">
                <a:solidFill>
                  <a:srgbClr val="FF0000"/>
                </a:solidFill>
                <a:latin typeface="Corbel" panose="020B0503020204020204" pitchFamily="34" charset="0"/>
                <a:cs typeface="Arial" panose="020B0604020202020204" pitchFamily="34" charset="0"/>
              </a:rPr>
              <a:t>OKAFOR KOSISOCHUKWU JOHNPAUL</a:t>
            </a:r>
          </a:p>
          <a:p>
            <a:pPr marL="0" indent="0">
              <a:buNone/>
            </a:pPr>
            <a:r>
              <a:rPr lang="en-GB" sz="2800" dirty="0">
                <a:solidFill>
                  <a:srgbClr val="FF0000"/>
                </a:solidFill>
                <a:latin typeface="Corbel" panose="020B0503020204020204" pitchFamily="34" charset="0"/>
                <a:cs typeface="Arial" panose="020B0604020202020204" pitchFamily="34" charset="0"/>
              </a:rPr>
              <a:t>REG. NO.: 20211287502</a:t>
            </a:r>
          </a:p>
          <a:p>
            <a:pPr marL="0" indent="0">
              <a:buNone/>
            </a:pPr>
            <a:endParaRPr lang="en-GB" dirty="0">
              <a:solidFill>
                <a:srgbClr val="FF0000"/>
              </a:solidFill>
              <a:latin typeface="Corbel" panose="020B0503020204020204" pitchFamily="34" charset="0"/>
              <a:cs typeface="Arial" panose="020B0604020202020204" pitchFamily="34" charset="0"/>
            </a:endParaRPr>
          </a:p>
          <a:p>
            <a:pPr marL="0" indent="0">
              <a:buNone/>
            </a:pPr>
            <a:endParaRPr lang="en-GB" dirty="0">
              <a:solidFill>
                <a:srgbClr val="FF0000"/>
              </a:solidFill>
              <a:latin typeface="Corbel" panose="020B0503020204020204" pitchFamily="34" charset="0"/>
              <a:cs typeface="Arial" panose="020B0604020202020204" pitchFamily="34" charset="0"/>
            </a:endParaRPr>
          </a:p>
          <a:p>
            <a:pPr marL="0" indent="0">
              <a:buNone/>
            </a:pPr>
            <a:r>
              <a:rPr lang="en-GB" sz="2800" dirty="0">
                <a:solidFill>
                  <a:srgbClr val="0070C0"/>
                </a:solidFill>
                <a:latin typeface="Corbel" panose="020B0503020204020204" pitchFamily="34" charset="0"/>
                <a:cs typeface="Arial" panose="020B0604020202020204" pitchFamily="34" charset="0"/>
              </a:rPr>
              <a:t>SUPERVISOR: DR. IKENNA CAESAR NWANDU</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48267" y="77274"/>
            <a:ext cx="683231" cy="739239"/>
          </a:xfrm>
          <a:prstGeom prst="rect">
            <a:avLst/>
          </a:prstGeom>
        </p:spPr>
      </p:pic>
      <p:sp>
        <p:nvSpPr>
          <p:cNvPr id="5" name="Footer Placeholder 4"/>
          <p:cNvSpPr>
            <a:spLocks noGrp="1"/>
          </p:cNvSpPr>
          <p:nvPr>
            <p:ph type="ftr" sz="quarter" idx="11"/>
          </p:nvPr>
        </p:nvSpPr>
        <p:spPr/>
        <p:txBody>
          <a:bodyPr/>
          <a:lstStyle/>
          <a:p>
            <a:r>
              <a:rPr lang="en-US" dirty="0"/>
              <a:t>Department of Software Engineering -  project ©2025</a:t>
            </a:r>
            <a:endParaRPr lang="en-GB" dirty="0"/>
          </a:p>
        </p:txBody>
      </p:sp>
      <p:sp>
        <p:nvSpPr>
          <p:cNvPr id="6" name="Slide Number Placeholder 5">
            <a:extLst>
              <a:ext uri="{FF2B5EF4-FFF2-40B4-BE49-F238E27FC236}">
                <a16:creationId xmlns:a16="http://schemas.microsoft.com/office/drawing/2014/main" id="{D5A1967E-D55A-4103-86BC-123CF935D49E}"/>
              </a:ext>
            </a:extLst>
          </p:cNvPr>
          <p:cNvSpPr>
            <a:spLocks noGrp="1"/>
          </p:cNvSpPr>
          <p:nvPr>
            <p:ph type="sldNum" sz="quarter" idx="12"/>
          </p:nvPr>
        </p:nvSpPr>
        <p:spPr/>
        <p:txBody>
          <a:bodyPr/>
          <a:lstStyle/>
          <a:p>
            <a:fld id="{60CB7500-84E7-42C8-9A57-AC33187A24A8}" type="slidenum">
              <a:rPr lang="en-GB" smtClean="0"/>
              <a:t>2</a:t>
            </a:fld>
            <a:endParaRPr lang="en-GB" dirty="0"/>
          </a:p>
        </p:txBody>
      </p:sp>
      <p:pic>
        <p:nvPicPr>
          <p:cNvPr id="8" name="Picture 7" descr="A logo with green letters and a chip&#10;&#10;Description automatically generated">
            <a:extLst>
              <a:ext uri="{FF2B5EF4-FFF2-40B4-BE49-F238E27FC236}">
                <a16:creationId xmlns:a16="http://schemas.microsoft.com/office/drawing/2014/main" id="{10E194A0-085F-F8A6-417A-90D9FB3701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4243" y="191759"/>
            <a:ext cx="1028700" cy="624754"/>
          </a:xfrm>
          <a:prstGeom prst="rect">
            <a:avLst/>
          </a:prstGeom>
        </p:spPr>
      </p:pic>
    </p:spTree>
    <p:extLst>
      <p:ext uri="{BB962C8B-B14F-4D97-AF65-F5344CB8AC3E}">
        <p14:creationId xmlns:p14="http://schemas.microsoft.com/office/powerpoint/2010/main" val="38134368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662873" y="589041"/>
            <a:ext cx="10515600" cy="71172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Arial" panose="020B0604020202020204" pitchFamily="34" charset="0"/>
                <a:cs typeface="Arial" panose="020B0604020202020204" pitchFamily="34" charset="0"/>
              </a:rPr>
              <a:t>INTRODUCTION</a:t>
            </a: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75946" y="48783"/>
            <a:ext cx="828226" cy="896120"/>
          </a:xfrm>
          <a:prstGeom prst="rect">
            <a:avLst/>
          </a:prstGeom>
        </p:spPr>
      </p:pic>
      <p:sp>
        <p:nvSpPr>
          <p:cNvPr id="4" name="Footer Placeholder 3"/>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C9AC4450-3E97-41C5-A1D7-8A59B3719115}"/>
              </a:ext>
            </a:extLst>
          </p:cNvPr>
          <p:cNvSpPr>
            <a:spLocks noGrp="1"/>
          </p:cNvSpPr>
          <p:nvPr>
            <p:ph type="sldNum" sz="quarter" idx="12"/>
          </p:nvPr>
        </p:nvSpPr>
        <p:spPr/>
        <p:txBody>
          <a:bodyPr/>
          <a:lstStyle/>
          <a:p>
            <a:fld id="{60CB7500-84E7-42C8-9A57-AC33187A24A8}" type="slidenum">
              <a:rPr lang="en-GB" smtClean="0"/>
              <a:t>3</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1E3A0C06-B168-5029-B395-43CBED696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3" y="202497"/>
            <a:ext cx="1028700" cy="476250"/>
          </a:xfrm>
          <a:prstGeom prst="rect">
            <a:avLst/>
          </a:prstGeom>
        </p:spPr>
      </p:pic>
      <p:sp>
        <p:nvSpPr>
          <p:cNvPr id="8" name="TextBox 7"/>
          <p:cNvSpPr txBox="1"/>
          <p:nvPr/>
        </p:nvSpPr>
        <p:spPr>
          <a:xfrm>
            <a:off x="640080" y="1417320"/>
            <a:ext cx="6035040" cy="4754880"/>
          </a:xfrm>
          <a:prstGeom prst="rect">
            <a:avLst/>
          </a:prstGeom>
          <a:noFill/>
        </p:spPr>
        <p:txBody>
          <a:bodyPr wrap="square" anchor="t" lIns="45720" rIns="45720" tIns="27432" bIns="27432">
            <a:spAutoFit/>
          </a:bodyPr>
          <a:lstStyle/>
          <a:p>
            <a:pPr marL="228600" indent="-228600">
              <a:spcAft>
                <a:spcPts val="1000"/>
              </a:spcAft>
              <a:buChar char="•"/>
            </a:pPr>
            <a:r>
              <a:rPr sz="1700" b="0" i="0">
                <a:solidFill>
                  <a:srgbClr val="000000"/>
                </a:solidFill>
                <a:latin typeface="Arial"/>
              </a:rPr>
              <a:t>Data on the internet travels as small units called packets. </a:t>
            </a:r>
            <a:r>
              <a:rPr sz="1700" b="1" i="0">
                <a:solidFill>
                  <a:srgbClr val="000000"/>
                </a:solidFill>
                <a:latin typeface="Arial"/>
              </a:rPr>
              <a:t>Transmission Control Protocol (TCP)</a:t>
            </a:r>
            <a:r>
              <a:rPr sz="1700" b="0" i="0">
                <a:solidFill>
                  <a:srgbClr val="000000"/>
                </a:solidFill>
                <a:latin typeface="Arial"/>
              </a:rPr>
              <a:t> makes sure they arrive reliably.</a:t>
            </a:r>
          </a:p>
          <a:p>
            <a:pPr marL="228600" indent="-228600">
              <a:spcAft>
                <a:spcPts val="1000"/>
              </a:spcAft>
              <a:buChar char="•"/>
            </a:pPr>
            <a:r>
              <a:rPr sz="1700" b="0" i="0">
                <a:solidFill>
                  <a:srgbClr val="000000"/>
                </a:solidFill>
                <a:latin typeface="Arial"/>
              </a:rPr>
              <a:t>A sender cannot see how full a router's memory buffer is. It infers congestion from packet loss and delay, and limits the data in transit with a value called the congestion window (CWND).</a:t>
            </a:r>
          </a:p>
          <a:p>
            <a:pPr marL="228600" indent="-228600">
              <a:spcAft>
                <a:spcPts val="1000"/>
              </a:spcAft>
              <a:buChar char="•"/>
            </a:pPr>
            <a:r>
              <a:rPr sz="1700" b="0" i="0">
                <a:solidFill>
                  <a:srgbClr val="000000"/>
                </a:solidFill>
                <a:latin typeface="Arial"/>
              </a:rPr>
              <a:t>TCP Reno and TCP CUBIC follow fixed rules and treat packet loss as congestion. Bottleneck Bandwidth and Round-trip propagation time (BBR) instead builds a model of the network path.</a:t>
            </a:r>
          </a:p>
          <a:p>
            <a:pPr marL="228600" indent="-228600">
              <a:spcAft>
                <a:spcPts val="1000"/>
              </a:spcAft>
              <a:buChar char="•"/>
            </a:pPr>
            <a:r>
              <a:rPr sz="1700" b="1" i="0">
                <a:solidFill>
                  <a:srgbClr val="000000"/>
                </a:solidFill>
                <a:latin typeface="Arial"/>
              </a:rPr>
              <a:t>Reinforcement Learning (RL)</a:t>
            </a:r>
            <a:r>
              <a:rPr sz="1700" b="0" i="0">
                <a:solidFill>
                  <a:srgbClr val="000000"/>
                </a:solidFill>
                <a:latin typeface="Arial"/>
              </a:rPr>
              <a:t> lets a sender learn its own control policy from observations and reward feedback.</a:t>
            </a:r>
          </a:p>
          <a:p>
            <a:pPr marL="228600" indent="-228600">
              <a:spcAft>
                <a:spcPts val="1000"/>
              </a:spcAft>
              <a:buChar char="•"/>
            </a:pPr>
            <a:r>
              <a:rPr sz="1700" b="0" i="0">
                <a:solidFill>
                  <a:srgbClr val="000000"/>
                </a:solidFill>
                <a:latin typeface="Arial"/>
              </a:rPr>
              <a:t>This project uses </a:t>
            </a:r>
            <a:r>
              <a:rPr sz="1700" b="1" i="0">
                <a:solidFill>
                  <a:srgbClr val="000000"/>
                </a:solidFill>
                <a:latin typeface="Arial"/>
              </a:rPr>
              <a:t>Multi-Agent RL (MARL)</a:t>
            </a:r>
            <a:r>
              <a:rPr sz="1700" b="0" i="0">
                <a:solidFill>
                  <a:srgbClr val="000000"/>
                </a:solidFill>
                <a:latin typeface="Arial"/>
              </a:rPr>
              <a:t>, where several senders learn together on one shared link.</a:t>
            </a:r>
          </a:p>
        </p:txBody>
      </p:sp>
      <p:pic>
        <p:nvPicPr>
          <p:cNvPr id="9" name="Picture 8" descr="Reinforcement learning control loop between the network environment and the agent"/>
          <p:cNvPicPr>
            <a:picLocks noChangeAspect="1"/>
          </p:cNvPicPr>
          <p:nvPr/>
        </p:nvPicPr>
        <p:blipFill>
          <a:blip r:embed="rId4"/>
          <a:stretch>
            <a:fillRect/>
          </a:stretch>
        </p:blipFill>
        <p:spPr>
          <a:xfrm>
            <a:off x="6949440" y="1828800"/>
            <a:ext cx="4617720" cy="2535379"/>
          </a:xfrm>
          <a:prstGeom prst="rect">
            <a:avLst/>
          </a:prstGeom>
        </p:spPr>
      </p:pic>
      <p:sp>
        <p:nvSpPr>
          <p:cNvPr id="10" name="TextBox 9"/>
          <p:cNvSpPr txBox="1"/>
          <p:nvPr/>
        </p:nvSpPr>
        <p:spPr>
          <a:xfrm>
            <a:off x="6949440" y="4343400"/>
            <a:ext cx="4617720" cy="274320"/>
          </a:xfrm>
          <a:prstGeom prst="rect">
            <a:avLst/>
          </a:prstGeom>
          <a:noFill/>
        </p:spPr>
        <p:txBody>
          <a:bodyPr wrap="square" anchor="t" lIns="45720" rIns="45720" tIns="27432" bIns="27432">
            <a:spAutoFit/>
          </a:bodyPr>
          <a:lstStyle/>
          <a:p>
            <a:pPr algn="l">
              <a:spcAft>
                <a:spcPts val="800"/>
              </a:spcAft>
            </a:pPr>
            <a:r>
              <a:rPr sz="1100" b="0" i="0">
                <a:solidFill>
                  <a:srgbClr val="404040"/>
                </a:solidFill>
                <a:latin typeface="Arial"/>
              </a:rPr>
              <a:t>Figure 1.1: The RL control cycle for congestion control.</a:t>
            </a:r>
          </a:p>
        </p:txBody>
      </p:sp>
    </p:spTree>
    <p:extLst>
      <p:ext uri="{BB962C8B-B14F-4D97-AF65-F5344CB8AC3E}">
        <p14:creationId xmlns:p14="http://schemas.microsoft.com/office/powerpoint/2010/main" val="31629797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662873" y="589041"/>
            <a:ext cx="10515600" cy="71172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PROBLEM STATEMENT</a:t>
            </a: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181968" y="77275"/>
            <a:ext cx="657803" cy="711726"/>
          </a:xfrm>
          <a:prstGeom prst="rect">
            <a:avLst/>
          </a:prstGeom>
        </p:spPr>
      </p:pic>
      <p:sp>
        <p:nvSpPr>
          <p:cNvPr id="4" name="Footer Placeholder 3"/>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286CECEC-CB3B-4765-9B37-346AE47686A2}"/>
              </a:ext>
            </a:extLst>
          </p:cNvPr>
          <p:cNvSpPr>
            <a:spLocks noGrp="1"/>
          </p:cNvSpPr>
          <p:nvPr>
            <p:ph type="sldNum" sz="quarter" idx="12"/>
          </p:nvPr>
        </p:nvSpPr>
        <p:spPr/>
        <p:txBody>
          <a:bodyPr/>
          <a:lstStyle/>
          <a:p>
            <a:fld id="{60CB7500-84E7-42C8-9A57-AC33187A24A8}" type="slidenum">
              <a:rPr lang="en-GB" smtClean="0"/>
              <a:t>4</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3FE0C3BD-484F-C505-169C-C95D682AE6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3" y="77273"/>
            <a:ext cx="1028700" cy="511767"/>
          </a:xfrm>
          <a:prstGeom prst="rect">
            <a:avLst/>
          </a:prstGeom>
        </p:spPr>
      </p:pic>
      <p:sp>
        <p:nvSpPr>
          <p:cNvPr id="8" name="Rectangle 7"/>
          <p:cNvSpPr/>
          <p:nvPr/>
        </p:nvSpPr>
        <p:spPr>
          <a:xfrm>
            <a:off x="640080" y="1417320"/>
            <a:ext cx="5318607" cy="2194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Loss-based algorithms (Reno, CUBIC)</a:t>
            </a:r>
          </a:p>
          <a:p>
            <a:pPr algn="l">
              <a:spcAft>
                <a:spcPts val="300"/>
              </a:spcAft>
            </a:pPr>
            <a:r>
              <a:rPr sz="1700" b="0" i="0">
                <a:solidFill>
                  <a:srgbClr val="000000"/>
                </a:solidFill>
                <a:latin typeface="Arial"/>
              </a:rPr>
              <a:t>They assume every packet drop means a router queue overflowed. On wireless links, signal interference also drops packets, so these algorithms cut the CWND when they should not. The link is then underused.</a:t>
            </a:r>
          </a:p>
        </p:txBody>
      </p:sp>
      <p:sp>
        <p:nvSpPr>
          <p:cNvPr id="9" name="Rectangle 8"/>
          <p:cNvSpPr/>
          <p:nvPr/>
        </p:nvSpPr>
        <p:spPr>
          <a:xfrm>
            <a:off x="6233007" y="1417320"/>
            <a:ext cx="5318607" cy="2194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Model-based algorithm (BBR)</a:t>
            </a:r>
          </a:p>
          <a:p>
            <a:pPr algn="l">
              <a:spcAft>
                <a:spcPts val="300"/>
              </a:spcAft>
            </a:pPr>
            <a:r>
              <a:rPr sz="1700" b="0" i="0">
                <a:solidFill>
                  <a:srgbClr val="000000"/>
                </a:solidFill>
                <a:latin typeface="Arial"/>
              </a:rPr>
              <a:t>BBR does not cut its rate when loss occurs. On a link shared with loss-based flows, it can starve them and split bandwidth unequally.</a:t>
            </a:r>
          </a:p>
        </p:txBody>
      </p:sp>
      <p:sp>
        <p:nvSpPr>
          <p:cNvPr id="10" name="Rectangle 9"/>
          <p:cNvSpPr/>
          <p:nvPr/>
        </p:nvSpPr>
        <p:spPr>
          <a:xfrm>
            <a:off x="640080" y="3886200"/>
            <a:ext cx="5318607" cy="2194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Single-agent RL</a:t>
            </a:r>
          </a:p>
          <a:p>
            <a:pPr algn="l">
              <a:spcAft>
                <a:spcPts val="300"/>
              </a:spcAft>
            </a:pPr>
            <a:r>
              <a:rPr sz="1700" b="0" i="0">
                <a:solidFill>
                  <a:srgbClr val="000000"/>
                </a:solidFill>
                <a:latin typeface="Arial"/>
              </a:rPr>
              <a:t>Most existing RL work uses one agent, which treats other flows as random noise. In competition it can take a disproportionate share of buffer space and starve other flows.</a:t>
            </a:r>
          </a:p>
        </p:txBody>
      </p:sp>
      <p:sp>
        <p:nvSpPr>
          <p:cNvPr id="11" name="Rectangle 10"/>
          <p:cNvSpPr/>
          <p:nvPr/>
        </p:nvSpPr>
        <p:spPr>
          <a:xfrm>
            <a:off x="6233007" y="3886200"/>
            <a:ext cx="5318607" cy="2194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Standards requirement</a:t>
            </a:r>
          </a:p>
          <a:p>
            <a:pPr algn="l">
              <a:spcAft>
                <a:spcPts val="300"/>
              </a:spcAft>
            </a:pPr>
            <a:r>
              <a:rPr sz="1700" b="0" i="0">
                <a:solidFill>
                  <a:srgbClr val="000000"/>
                </a:solidFill>
                <a:latin typeface="Arial"/>
              </a:rPr>
              <a:t>The Internet Engineering Task Force (IETF) requires in RFC 9743 that a new algorithm coexists safely and shares capacity fairly. Single-agent RL does not address this, which motivates a multi-agent approach.</a:t>
            </a:r>
          </a:p>
        </p:txBody>
      </p:sp>
    </p:spTree>
    <p:extLst>
      <p:ext uri="{BB962C8B-B14F-4D97-AF65-F5344CB8AC3E}">
        <p14:creationId xmlns:p14="http://schemas.microsoft.com/office/powerpoint/2010/main" val="10333895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662873" y="589041"/>
            <a:ext cx="10515600" cy="71172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MAIN OBJECTIVES </a:t>
            </a: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33355" y="67651"/>
            <a:ext cx="800964" cy="866623"/>
          </a:xfrm>
          <a:prstGeom prst="rect">
            <a:avLst/>
          </a:prstGeom>
        </p:spPr>
      </p:pic>
      <p:sp>
        <p:nvSpPr>
          <p:cNvPr id="4" name="Footer Placeholder 3"/>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6D95DEBF-0917-4EDA-A968-A1187456EEEC}"/>
              </a:ext>
            </a:extLst>
          </p:cNvPr>
          <p:cNvSpPr>
            <a:spLocks noGrp="1"/>
          </p:cNvSpPr>
          <p:nvPr>
            <p:ph type="sldNum" sz="quarter" idx="12"/>
          </p:nvPr>
        </p:nvSpPr>
        <p:spPr/>
        <p:txBody>
          <a:bodyPr/>
          <a:lstStyle/>
          <a:p>
            <a:fld id="{60CB7500-84E7-42C8-9A57-AC33187A24A8}" type="slidenum">
              <a:rPr lang="en-GB" smtClean="0"/>
              <a:t>5</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7FCA6E0F-0184-C480-34F3-1B4150D388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12791"/>
            <a:ext cx="1028700" cy="476250"/>
          </a:xfrm>
          <a:prstGeom prst="rect">
            <a:avLst/>
          </a:prstGeom>
        </p:spPr>
      </p:pic>
      <p:sp>
        <p:nvSpPr>
          <p:cNvPr id="8" name="Rectangle 7"/>
          <p:cNvSpPr/>
          <p:nvPr/>
        </p:nvSpPr>
        <p:spPr>
          <a:xfrm>
            <a:off x="640080" y="1417320"/>
            <a:ext cx="10911535" cy="2651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500"/>
              </a:spcAft>
            </a:pPr>
            <a:r>
              <a:rPr sz="1800" b="1" i="0">
                <a:solidFill>
                  <a:srgbClr val="000000"/>
                </a:solidFill>
                <a:latin typeface="Arial"/>
              </a:rPr>
              <a:t>Main objective</a:t>
            </a:r>
          </a:p>
          <a:p>
            <a:pPr algn="l">
              <a:spcAft>
                <a:spcPts val="300"/>
              </a:spcAft>
            </a:pPr>
            <a:r>
              <a:rPr sz="2200" b="0" i="0">
                <a:solidFill>
                  <a:srgbClr val="000000"/>
                </a:solidFill>
                <a:latin typeface="Arial"/>
              </a:rPr>
              <a:t>To design, implement, and evaluate a Multi-Agent Reinforcement Learning (MARL) framework for Transmission Control Protocol (TCP) congestion control that optimizes bandwidth utilization and reduces queueing delay, while keeping bandwidth fair among competing flows and staying within realistic computational limits.</a:t>
            </a:r>
          </a:p>
        </p:txBody>
      </p:sp>
      <p:sp>
        <p:nvSpPr>
          <p:cNvPr id="9" name="Rectangle 8"/>
          <p:cNvSpPr/>
          <p:nvPr/>
        </p:nvSpPr>
        <p:spPr>
          <a:xfrm>
            <a:off x="640080" y="4297680"/>
            <a:ext cx="3454298" cy="17373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Scope</a:t>
            </a:r>
          </a:p>
          <a:p>
            <a:pPr algn="l">
              <a:spcAft>
                <a:spcPts val="300"/>
              </a:spcAft>
            </a:pPr>
            <a:r>
              <a:rPr sz="1600" b="0" i="0">
                <a:solidFill>
                  <a:srgbClr val="000000"/>
                </a:solidFill>
                <a:latin typeface="Arial"/>
              </a:rPr>
              <a:t>Simulation only, using Network Simulator 3 (ns-3). Training is done offline.</a:t>
            </a:r>
          </a:p>
        </p:txBody>
      </p:sp>
      <p:sp>
        <p:nvSpPr>
          <p:cNvPr id="10" name="Rectangle 9"/>
          <p:cNvSpPr/>
          <p:nvPr/>
        </p:nvSpPr>
        <p:spPr>
          <a:xfrm>
            <a:off x="4368698" y="4297680"/>
            <a:ext cx="3454298" cy="17373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Network setup</a:t>
            </a:r>
          </a:p>
          <a:p>
            <a:pPr algn="l">
              <a:spcAft>
                <a:spcPts val="300"/>
              </a:spcAft>
            </a:pPr>
            <a:r>
              <a:rPr sz="1600" b="0" i="0">
                <a:solidFill>
                  <a:srgbClr val="000000"/>
                </a:solidFill>
                <a:latin typeface="Arial"/>
              </a:rPr>
              <a:t>Dumbbell topology with a 10 Mbps bottleneck link and 20 ms one-way delay.</a:t>
            </a:r>
          </a:p>
        </p:txBody>
      </p:sp>
      <p:sp>
        <p:nvSpPr>
          <p:cNvPr id="11" name="Rectangle 10"/>
          <p:cNvSpPr/>
          <p:nvPr/>
        </p:nvSpPr>
        <p:spPr>
          <a:xfrm>
            <a:off x="8097316" y="4297680"/>
            <a:ext cx="3454298" cy="17373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Out of scope</a:t>
            </a:r>
          </a:p>
          <a:p>
            <a:pPr algn="l">
              <a:spcAft>
                <a:spcPts val="300"/>
              </a:spcAft>
            </a:pPr>
            <a:r>
              <a:rPr sz="1600" b="0" i="0">
                <a:solidFill>
                  <a:srgbClr val="000000"/>
                </a:solidFill>
                <a:latin typeface="Arial"/>
              </a:rPr>
              <a:t>Changes to the live Linux kernel and tests on real hardware or live internet links.</a:t>
            </a:r>
          </a:p>
        </p:txBody>
      </p:sp>
    </p:spTree>
    <p:extLst>
      <p:ext uri="{BB962C8B-B14F-4D97-AF65-F5344CB8AC3E}">
        <p14:creationId xmlns:p14="http://schemas.microsoft.com/office/powerpoint/2010/main" val="4370697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235F5-2914-D425-F43E-2F6958DC56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920E3-81C3-05BC-5ABE-CD8473D0A04E}"/>
              </a:ext>
            </a:extLst>
          </p:cNvPr>
          <p:cNvSpPr txBox="1">
            <a:spLocks/>
          </p:cNvSpPr>
          <p:nvPr/>
        </p:nvSpPr>
        <p:spPr>
          <a:xfrm>
            <a:off x="1460091" y="233178"/>
            <a:ext cx="8700744" cy="71172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SPECIFIC OBJECTIVES </a:t>
            </a:r>
          </a:p>
        </p:txBody>
      </p:sp>
      <p:pic>
        <p:nvPicPr>
          <p:cNvPr id="3" name="Picture 2">
            <a:extLst>
              <a:ext uri="{FF2B5EF4-FFF2-40B4-BE49-F238E27FC236}">
                <a16:creationId xmlns:a16="http://schemas.microsoft.com/office/drawing/2014/main" id="{0841A8FA-946C-B1B9-5429-3953D51DBEE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33355" y="67651"/>
            <a:ext cx="800964" cy="866623"/>
          </a:xfrm>
          <a:prstGeom prst="rect">
            <a:avLst/>
          </a:prstGeom>
        </p:spPr>
      </p:pic>
      <p:sp>
        <p:nvSpPr>
          <p:cNvPr id="4" name="Footer Placeholder 3">
            <a:extLst>
              <a:ext uri="{FF2B5EF4-FFF2-40B4-BE49-F238E27FC236}">
                <a16:creationId xmlns:a16="http://schemas.microsoft.com/office/drawing/2014/main" id="{BAF6EF7A-F7CA-6E9E-8B93-9C9DFE45FF02}"/>
              </a:ext>
            </a:extLst>
          </p:cNvPr>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6AAFD5B9-7353-29C7-2C54-89EBD60C607C}"/>
              </a:ext>
            </a:extLst>
          </p:cNvPr>
          <p:cNvSpPr>
            <a:spLocks noGrp="1"/>
          </p:cNvSpPr>
          <p:nvPr>
            <p:ph type="sldNum" sz="quarter" idx="12"/>
          </p:nvPr>
        </p:nvSpPr>
        <p:spPr/>
        <p:txBody>
          <a:bodyPr/>
          <a:lstStyle/>
          <a:p>
            <a:fld id="{60CB7500-84E7-42C8-9A57-AC33187A24A8}" type="slidenum">
              <a:rPr lang="en-GB" smtClean="0"/>
              <a:t>6</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C1FC5527-6598-C355-28E3-46106C355F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12791"/>
            <a:ext cx="1028700" cy="476250"/>
          </a:xfrm>
          <a:prstGeom prst="rect">
            <a:avLst/>
          </a:prstGeom>
        </p:spPr>
      </p:pic>
      <p:sp>
        <p:nvSpPr>
          <p:cNvPr id="8" name="Rectangle 7"/>
          <p:cNvSpPr/>
          <p:nvPr/>
        </p:nvSpPr>
        <p:spPr>
          <a:xfrm>
            <a:off x="640080" y="1417320"/>
            <a:ext cx="5318607"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1. Examine loss-based TCP</a:t>
            </a:r>
          </a:p>
          <a:p>
            <a:pPr algn="l">
              <a:spcAft>
                <a:spcPts val="300"/>
              </a:spcAft>
            </a:pPr>
            <a:r>
              <a:rPr sz="1500" b="0" i="0">
                <a:solidFill>
                  <a:srgbClr val="000000"/>
                </a:solidFill>
                <a:latin typeface="Arial"/>
              </a:rPr>
              <a:t>Study TCP Reno and TCP CUBIC: how they work, their throughput limits, and bufferbloat (high delay from over-full router buffers).</a:t>
            </a:r>
          </a:p>
        </p:txBody>
      </p:sp>
      <p:sp>
        <p:nvSpPr>
          <p:cNvPr id="9" name="Rectangle 8"/>
          <p:cNvSpPr/>
          <p:nvPr/>
        </p:nvSpPr>
        <p:spPr>
          <a:xfrm>
            <a:off x="6233007" y="1417320"/>
            <a:ext cx="5318607"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2. Analyze BBR</a:t>
            </a:r>
          </a:p>
          <a:p>
            <a:pPr algn="l">
              <a:spcAft>
                <a:spcPts val="300"/>
              </a:spcAft>
            </a:pPr>
            <a:r>
              <a:rPr sz="1500" b="0" i="0">
                <a:solidFill>
                  <a:srgbClr val="000000"/>
                </a:solidFill>
                <a:latin typeface="Arial"/>
              </a:rPr>
              <a:t>Identify BBR fairness problems and throughput loss when it competes with loss-based flows.</a:t>
            </a:r>
          </a:p>
        </p:txBody>
      </p:sp>
      <p:sp>
        <p:nvSpPr>
          <p:cNvPr id="10" name="Rectangle 9"/>
          <p:cNvSpPr/>
          <p:nvPr/>
        </p:nvSpPr>
        <p:spPr>
          <a:xfrm>
            <a:off x="640080" y="3063240"/>
            <a:ext cx="5318607"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3. Formulate the problem</a:t>
            </a:r>
          </a:p>
          <a:p>
            <a:pPr algn="l">
              <a:spcAft>
                <a:spcPts val="300"/>
              </a:spcAft>
            </a:pPr>
            <a:r>
              <a:rPr sz="1500" b="0" i="0">
                <a:solidFill>
                  <a:srgbClr val="000000"/>
                </a:solidFill>
                <a:latin typeface="Arial"/>
              </a:rPr>
              <a:t>Express congestion control as a Markov Decision Process (MDP) with states, actions, and a cooperative reward.</a:t>
            </a:r>
          </a:p>
        </p:txBody>
      </p:sp>
      <p:sp>
        <p:nvSpPr>
          <p:cNvPr id="11" name="Rectangle 10"/>
          <p:cNvSpPr/>
          <p:nvPr/>
        </p:nvSpPr>
        <p:spPr>
          <a:xfrm>
            <a:off x="6233007" y="3063240"/>
            <a:ext cx="5318607"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4. Build a testbed</a:t>
            </a:r>
          </a:p>
          <a:p>
            <a:pPr algn="l">
              <a:spcAft>
                <a:spcPts val="300"/>
              </a:spcAft>
            </a:pPr>
            <a:r>
              <a:rPr sz="1500" b="0" i="0">
                <a:solidFill>
                  <a:srgbClr val="000000"/>
                </a:solidFill>
                <a:latin typeface="Arial"/>
              </a:rPr>
              <a:t>Connect Network Simulator 3 (ns-3) to Python through the ns3-gym bridge and the OpenAI Gymnasium interface.</a:t>
            </a:r>
          </a:p>
        </p:txBody>
      </p:sp>
      <p:sp>
        <p:nvSpPr>
          <p:cNvPr id="12" name="Rectangle 11"/>
          <p:cNvSpPr/>
          <p:nvPr/>
        </p:nvSpPr>
        <p:spPr>
          <a:xfrm>
            <a:off x="640080" y="4709160"/>
            <a:ext cx="5318607"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5. Train a shared policy</a:t>
            </a:r>
          </a:p>
          <a:p>
            <a:pPr algn="l">
              <a:spcAft>
                <a:spcPts val="300"/>
              </a:spcAft>
            </a:pPr>
            <a:r>
              <a:rPr sz="1500" b="0" i="0">
                <a:solidFill>
                  <a:srgbClr val="000000"/>
                </a:solidFill>
                <a:latin typeface="Arial"/>
              </a:rPr>
              <a:t>Use Proximal Policy Optimization (PPO) under Centralised Training with Decentralised Execution (CTDE).</a:t>
            </a:r>
          </a:p>
        </p:txBody>
      </p:sp>
      <p:sp>
        <p:nvSpPr>
          <p:cNvPr id="13" name="Rectangle 12"/>
          <p:cNvSpPr/>
          <p:nvPr/>
        </p:nvSpPr>
        <p:spPr>
          <a:xfrm>
            <a:off x="6233007" y="4709160"/>
            <a:ext cx="5318607"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6. Evaluate</a:t>
            </a:r>
          </a:p>
          <a:p>
            <a:pPr algn="l">
              <a:spcAft>
                <a:spcPts val="300"/>
              </a:spcAft>
            </a:pPr>
            <a:r>
              <a:rPr sz="1500" b="0" i="0">
                <a:solidFill>
                  <a:srgbClr val="000000"/>
                </a:solidFill>
                <a:latin typeface="Arial"/>
              </a:rPr>
              <a:t>Compare the agent with Reno, CUBIC, and BBR on throughput, delay, loss ratio, and Jain's Fairness Index (RFC 9743 metrics).</a:t>
            </a:r>
          </a:p>
        </p:txBody>
      </p:sp>
    </p:spTree>
    <p:extLst>
      <p:ext uri="{BB962C8B-B14F-4D97-AF65-F5344CB8AC3E}">
        <p14:creationId xmlns:p14="http://schemas.microsoft.com/office/powerpoint/2010/main" val="3299026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662873" y="589041"/>
            <a:ext cx="10515600" cy="71172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METHODOLOGY </a:t>
            </a: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451273" y="46672"/>
            <a:ext cx="657803" cy="711726"/>
          </a:xfrm>
          <a:prstGeom prst="rect">
            <a:avLst/>
          </a:prstGeom>
        </p:spPr>
      </p:pic>
      <p:sp>
        <p:nvSpPr>
          <p:cNvPr id="4" name="Footer Placeholder 3"/>
          <p:cNvSpPr>
            <a:spLocks noGrp="1"/>
          </p:cNvSpPr>
          <p:nvPr>
            <p:ph type="ftr" sz="quarter" idx="11"/>
          </p:nvPr>
        </p:nvSpPr>
        <p:spPr/>
        <p:txBody>
          <a:bodyPr/>
          <a:lstStyle/>
          <a:p>
            <a:r>
              <a:rPr lang="en-US" dirty="0"/>
              <a:t>Department of Software Engineering -  project©2025</a:t>
            </a:r>
            <a:endParaRPr lang="en-GB" dirty="0"/>
          </a:p>
        </p:txBody>
      </p:sp>
      <p:sp>
        <p:nvSpPr>
          <p:cNvPr id="5" name="Slide Number Placeholder 4">
            <a:extLst>
              <a:ext uri="{FF2B5EF4-FFF2-40B4-BE49-F238E27FC236}">
                <a16:creationId xmlns:a16="http://schemas.microsoft.com/office/drawing/2014/main" id="{4F013CF2-E240-49B7-AE34-B318D306B1CA}"/>
              </a:ext>
            </a:extLst>
          </p:cNvPr>
          <p:cNvSpPr>
            <a:spLocks noGrp="1"/>
          </p:cNvSpPr>
          <p:nvPr>
            <p:ph type="sldNum" sz="quarter" idx="12"/>
          </p:nvPr>
        </p:nvSpPr>
        <p:spPr/>
        <p:txBody>
          <a:bodyPr/>
          <a:lstStyle/>
          <a:p>
            <a:fld id="{60CB7500-84E7-42C8-9A57-AC33187A24A8}" type="slidenum">
              <a:rPr lang="en-GB" smtClean="0"/>
              <a:t>7</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0E94A5F8-459F-E0F5-B38B-C12C5C86BC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3" y="164410"/>
            <a:ext cx="1028700" cy="476250"/>
          </a:xfrm>
          <a:prstGeom prst="rect">
            <a:avLst/>
          </a:prstGeom>
        </p:spPr>
      </p:pic>
      <p:sp>
        <p:nvSpPr>
          <p:cNvPr id="8" name="TextBox 7"/>
          <p:cNvSpPr txBox="1"/>
          <p:nvPr/>
        </p:nvSpPr>
        <p:spPr>
          <a:xfrm>
            <a:off x="640080" y="1325880"/>
            <a:ext cx="10911535" cy="1554480"/>
          </a:xfrm>
          <a:prstGeom prst="rect">
            <a:avLst/>
          </a:prstGeom>
          <a:noFill/>
        </p:spPr>
        <p:txBody>
          <a:bodyPr wrap="square" anchor="t" lIns="45720" rIns="45720" tIns="27432" bIns="27432">
            <a:spAutoFit/>
          </a:bodyPr>
          <a:lstStyle/>
          <a:p>
            <a:pPr marL="228600" indent="-228600">
              <a:spcAft>
                <a:spcPts val="500"/>
              </a:spcAft>
              <a:buChar char="•"/>
            </a:pPr>
            <a:r>
              <a:rPr sz="1500" b="1" i="0">
                <a:solidFill>
                  <a:srgbClr val="000000"/>
                </a:solidFill>
                <a:latin typeface="Arial"/>
              </a:rPr>
              <a:t>Simulation-based, offline training. </a:t>
            </a:r>
            <a:r>
              <a:rPr sz="1500" b="0" i="0">
                <a:solidFill>
                  <a:srgbClr val="000000"/>
                </a:solidFill>
                <a:latin typeface="Arial"/>
              </a:rPr>
              <a:t>All work runs inside Network Simulator 3 (ns-3), a discrete-event simulator, so a learning agent can explore without risking a real network.</a:t>
            </a:r>
          </a:p>
          <a:p>
            <a:pPr marL="228600" indent="-228600">
              <a:spcAft>
                <a:spcPts val="500"/>
              </a:spcAft>
              <a:buChar char="•"/>
            </a:pPr>
            <a:r>
              <a:rPr sz="1500" b="1" i="0">
                <a:solidFill>
                  <a:srgbClr val="000000"/>
                </a:solidFill>
                <a:latin typeface="Arial"/>
              </a:rPr>
              <a:t>Centralised Training with Decentralised Execution (CTDE). </a:t>
            </a:r>
            <a:r>
              <a:rPr sz="1500" b="0" i="0">
                <a:solidFill>
                  <a:srgbClr val="000000"/>
                </a:solidFill>
                <a:latin typeface="Arial"/>
              </a:rPr>
              <a:t>During training, one process sees all flows and trains a single shared policy. After training the weights are frozen, and each sender applies the policy using only its own observations.</a:t>
            </a:r>
          </a:p>
        </p:txBody>
      </p:sp>
      <p:sp>
        <p:nvSpPr>
          <p:cNvPr id="9" name="TextBox 8"/>
          <p:cNvSpPr txBox="1"/>
          <p:nvPr/>
        </p:nvSpPr>
        <p:spPr>
          <a:xfrm>
            <a:off x="640080" y="2926080"/>
            <a:ext cx="10911535" cy="365760"/>
          </a:xfrm>
          <a:prstGeom prst="rect">
            <a:avLst/>
          </a:prstGeom>
          <a:noFill/>
        </p:spPr>
        <p:txBody>
          <a:bodyPr wrap="square" anchor="t" lIns="45720" rIns="45720" tIns="27432" bIns="27432">
            <a:spAutoFit/>
          </a:bodyPr>
          <a:lstStyle/>
          <a:p>
            <a:pPr>
              <a:spcAft>
                <a:spcPts val="0"/>
              </a:spcAft>
            </a:pPr>
            <a:r>
              <a:rPr sz="1500" b="1" i="0">
                <a:solidFill>
                  <a:srgbClr val="000000"/>
                </a:solidFill>
                <a:latin typeface="Arial"/>
              </a:rPr>
              <a:t>The problem is framed as a Markov Decision Process (MDP): what the agent sees, what it does, and how it is scored.</a:t>
            </a:r>
          </a:p>
        </p:txBody>
      </p:sp>
      <p:sp>
        <p:nvSpPr>
          <p:cNvPr id="10" name="Rectangle 9"/>
          <p:cNvSpPr/>
          <p:nvPr/>
        </p:nvSpPr>
        <p:spPr>
          <a:xfrm>
            <a:off x="640080" y="3383280"/>
            <a:ext cx="3454298" cy="2788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State (what it sees)</a:t>
            </a:r>
          </a:p>
          <a:p>
            <a:pPr algn="l">
              <a:spcAft>
                <a:spcPts val="300"/>
              </a:spcAft>
            </a:pPr>
            <a:r>
              <a:rPr sz="1400" b="0" i="0">
                <a:solidFill>
                  <a:srgbClr val="000000"/>
                </a:solidFill>
                <a:latin typeface="Arial"/>
              </a:rPr>
              <a:t>Four values per flow:</a:t>
            </a:r>
          </a:p>
          <a:p>
            <a:pPr algn="l">
              <a:spcAft>
                <a:spcPts val="300"/>
              </a:spcAft>
            </a:pPr>
            <a:r>
              <a:rPr sz="1400" b="0" i="0">
                <a:solidFill>
                  <a:srgbClr val="000000"/>
                </a:solidFill>
                <a:latin typeface="Arial"/>
              </a:rPr>
              <a:t>1. Congestion window</a:t>
            </a:r>
          </a:p>
          <a:p>
            <a:pPr algn="l">
              <a:spcAft>
                <a:spcPts val="300"/>
              </a:spcAft>
            </a:pPr>
            <a:r>
              <a:rPr sz="1400" b="0" i="0">
                <a:solidFill>
                  <a:srgbClr val="000000"/>
                </a:solidFill>
                <a:latin typeface="Arial"/>
              </a:rPr>
              <a:t>2. Smoothed round-trip time</a:t>
            </a:r>
          </a:p>
          <a:p>
            <a:pPr algn="l">
              <a:spcAft>
                <a:spcPts val="300"/>
              </a:spcAft>
            </a:pPr>
            <a:r>
              <a:rPr sz="1400" b="0" i="0">
                <a:solidFill>
                  <a:srgbClr val="000000"/>
                </a:solidFill>
                <a:latin typeface="Arial"/>
              </a:rPr>
              <a:t>3. Packet loss count</a:t>
            </a:r>
          </a:p>
          <a:p>
            <a:pPr algn="l">
              <a:spcAft>
                <a:spcPts val="300"/>
              </a:spcAft>
            </a:pPr>
            <a:r>
              <a:rPr sz="1400" b="0" i="0">
                <a:solidFill>
                  <a:srgbClr val="000000"/>
                </a:solidFill>
                <a:latin typeface="Arial"/>
              </a:rPr>
              <a:t>4. Throughput delivery rate</a:t>
            </a:r>
          </a:p>
          <a:p>
            <a:pPr algn="l">
              <a:spcAft>
                <a:spcPts val="300"/>
              </a:spcAft>
            </a:pPr>
            <a:r>
              <a:rPr sz="1400" b="0" i="0">
                <a:solidFill>
                  <a:srgbClr val="000000"/>
                </a:solidFill>
                <a:latin typeface="Arial"/>
              </a:rPr>
              <a:t>Two flows give a vector of eight numbers, scaled to bounded ranges before reaching the neural network.</a:t>
            </a:r>
          </a:p>
        </p:txBody>
      </p:sp>
      <p:sp>
        <p:nvSpPr>
          <p:cNvPr id="11" name="Rectangle 10"/>
          <p:cNvSpPr/>
          <p:nvPr/>
        </p:nvSpPr>
        <p:spPr>
          <a:xfrm>
            <a:off x="4368698" y="3383280"/>
            <a:ext cx="3454298" cy="2788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Action (what it does)</a:t>
            </a:r>
          </a:p>
          <a:p>
            <a:pPr algn="l">
              <a:spcAft>
                <a:spcPts val="300"/>
              </a:spcAft>
            </a:pPr>
            <a:r>
              <a:rPr sz="1400" b="0" i="0">
                <a:solidFill>
                  <a:srgbClr val="000000"/>
                </a:solidFill>
                <a:latin typeface="Arial"/>
              </a:rPr>
              <a:t>One integer from 0 to 4 per flow, changing the window:</a:t>
            </a:r>
          </a:p>
          <a:p>
            <a:pPr algn="l">
              <a:spcAft>
                <a:spcPts val="300"/>
              </a:spcAft>
            </a:pPr>
            <a:r>
              <a:rPr sz="1400" b="0" i="0">
                <a:solidFill>
                  <a:srgbClr val="000000"/>
                </a:solidFill>
                <a:latin typeface="Arial"/>
              </a:rPr>
              <a:t>0: keep the window</a:t>
            </a:r>
          </a:p>
          <a:p>
            <a:pPr algn="l">
              <a:spcAft>
                <a:spcPts val="300"/>
              </a:spcAft>
            </a:pPr>
            <a:r>
              <a:rPr sz="1400" b="0" i="0">
                <a:solidFill>
                  <a:srgbClr val="000000"/>
                </a:solidFill>
                <a:latin typeface="Arial"/>
              </a:rPr>
              <a:t>1: increase by 10%</a:t>
            </a:r>
          </a:p>
          <a:p>
            <a:pPr algn="l">
              <a:spcAft>
                <a:spcPts val="300"/>
              </a:spcAft>
            </a:pPr>
            <a:r>
              <a:rPr sz="1400" b="0" i="0">
                <a:solidFill>
                  <a:srgbClr val="000000"/>
                </a:solidFill>
                <a:latin typeface="Arial"/>
              </a:rPr>
              <a:t>2: decrease by 10%</a:t>
            </a:r>
          </a:p>
          <a:p>
            <a:pPr algn="l">
              <a:spcAft>
                <a:spcPts val="300"/>
              </a:spcAft>
            </a:pPr>
            <a:r>
              <a:rPr sz="1400" b="0" i="0">
                <a:solidFill>
                  <a:srgbClr val="000000"/>
                </a:solidFill>
                <a:latin typeface="Arial"/>
              </a:rPr>
              <a:t>3: increase by 20%</a:t>
            </a:r>
          </a:p>
          <a:p>
            <a:pPr algn="l">
              <a:spcAft>
                <a:spcPts val="300"/>
              </a:spcAft>
            </a:pPr>
            <a:r>
              <a:rPr sz="1400" b="0" i="0">
                <a:solidFill>
                  <a:srgbClr val="000000"/>
                </a:solidFill>
                <a:latin typeface="Arial"/>
              </a:rPr>
              <a:t>4: decrease by 20%</a:t>
            </a:r>
          </a:p>
        </p:txBody>
      </p:sp>
      <p:sp>
        <p:nvSpPr>
          <p:cNvPr id="12" name="Rectangle 11"/>
          <p:cNvSpPr/>
          <p:nvPr/>
        </p:nvSpPr>
        <p:spPr>
          <a:xfrm>
            <a:off x="8097316" y="3383280"/>
            <a:ext cx="3454298" cy="2788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700" b="1" i="0">
                <a:solidFill>
                  <a:srgbClr val="000000"/>
                </a:solidFill>
                <a:latin typeface="Arial"/>
              </a:rPr>
              <a:t>Reward (how it is scored)</a:t>
            </a:r>
          </a:p>
          <a:p>
            <a:pPr algn="l">
              <a:spcAft>
                <a:spcPts val="300"/>
              </a:spcAft>
            </a:pPr>
            <a:r>
              <a:rPr sz="1400" b="0" i="0">
                <a:solidFill>
                  <a:srgbClr val="000000"/>
                </a:solidFill>
                <a:latin typeface="Arial"/>
              </a:rPr>
              <a:t>Reward = 20 × (total throughput / 10) + 20 × Jain fairness − delay penalty − loss penalty</a:t>
            </a:r>
          </a:p>
          <a:p>
            <a:pPr algn="l">
              <a:spcAft>
                <a:spcPts val="300"/>
              </a:spcAft>
            </a:pPr>
            <a:r>
              <a:rPr sz="1400" b="0" i="0">
                <a:solidFill>
                  <a:srgbClr val="000000"/>
                </a:solidFill>
                <a:latin typeface="Arial"/>
              </a:rPr>
              <a:t>Jain's Fairness Index is 1.0 when bandwidth is shared equally. If one agent starves the other, fairness and delay penalties cancel its throughput gain.</a:t>
            </a:r>
          </a:p>
        </p:txBody>
      </p:sp>
    </p:spTree>
    <p:extLst>
      <p:ext uri="{BB962C8B-B14F-4D97-AF65-F5344CB8AC3E}">
        <p14:creationId xmlns:p14="http://schemas.microsoft.com/office/powerpoint/2010/main" val="32310027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002F6-F641-841A-40A0-D50F6BCA2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F2502B-1E2A-DAFF-8019-565E75523D84}"/>
              </a:ext>
            </a:extLst>
          </p:cNvPr>
          <p:cNvSpPr txBox="1">
            <a:spLocks/>
          </p:cNvSpPr>
          <p:nvPr/>
        </p:nvSpPr>
        <p:spPr>
          <a:xfrm>
            <a:off x="662873" y="589041"/>
            <a:ext cx="10515600" cy="71172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DESIGN AND IMPLEMENTATION</a:t>
            </a:r>
          </a:p>
        </p:txBody>
      </p:sp>
      <p:pic>
        <p:nvPicPr>
          <p:cNvPr id="3" name="Picture 2">
            <a:extLst>
              <a:ext uri="{FF2B5EF4-FFF2-40B4-BE49-F238E27FC236}">
                <a16:creationId xmlns:a16="http://schemas.microsoft.com/office/drawing/2014/main" id="{056F7BB6-BA16-10A0-A275-0766C44B37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451273" y="46672"/>
            <a:ext cx="657803" cy="711726"/>
          </a:xfrm>
          <a:prstGeom prst="rect">
            <a:avLst/>
          </a:prstGeom>
        </p:spPr>
      </p:pic>
      <p:sp>
        <p:nvSpPr>
          <p:cNvPr id="4" name="Footer Placeholder 3">
            <a:extLst>
              <a:ext uri="{FF2B5EF4-FFF2-40B4-BE49-F238E27FC236}">
                <a16:creationId xmlns:a16="http://schemas.microsoft.com/office/drawing/2014/main" id="{729A9F13-9321-D26A-8648-58EA10BD6C93}"/>
              </a:ext>
            </a:extLst>
          </p:cNvPr>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77E102E2-CCB3-03CE-1666-70F52982C7BC}"/>
              </a:ext>
            </a:extLst>
          </p:cNvPr>
          <p:cNvSpPr>
            <a:spLocks noGrp="1"/>
          </p:cNvSpPr>
          <p:nvPr>
            <p:ph type="sldNum" sz="quarter" idx="12"/>
          </p:nvPr>
        </p:nvSpPr>
        <p:spPr/>
        <p:txBody>
          <a:bodyPr/>
          <a:lstStyle/>
          <a:p>
            <a:fld id="{60CB7500-84E7-42C8-9A57-AC33187A24A8}" type="slidenum">
              <a:rPr lang="en-GB" smtClean="0"/>
              <a:t>8</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D7D8328C-A8DB-82F8-293E-B57B0DC2B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3" y="164410"/>
            <a:ext cx="1028700" cy="476250"/>
          </a:xfrm>
          <a:prstGeom prst="rect">
            <a:avLst/>
          </a:prstGeom>
        </p:spPr>
      </p:pic>
      <p:sp>
        <p:nvSpPr>
          <p:cNvPr id="9" name="TextBox 8"/>
          <p:cNvSpPr txBox="1"/>
          <p:nvPr/>
        </p:nvSpPr>
        <p:spPr>
          <a:xfrm>
            <a:off x="640080" y="4206240"/>
            <a:ext cx="4937760" cy="274320"/>
          </a:xfrm>
          <a:prstGeom prst="rect">
            <a:avLst/>
          </a:prstGeom>
          <a:noFill/>
        </p:spPr>
        <p:txBody>
          <a:bodyPr wrap="square" anchor="t" lIns="45720" rIns="45720" tIns="27432" bIns="27432">
            <a:spAutoFit/>
          </a:bodyPr>
          <a:lstStyle/>
          <a:p>
            <a:pPr algn="l">
              <a:spcAft>
                <a:spcPts val="800"/>
              </a:spcAft>
            </a:pPr>
            <a:r>
              <a:rPr sz="1100" b="0" i="0">
                <a:solidFill>
                  <a:srgbClr val="404040"/>
                </a:solidFill>
                <a:latin typeface="Arial"/>
              </a:rPr>
              <a:t>Figure 3.1: Multi-agent simulation testbed.</a:t>
            </a:r>
          </a:p>
        </p:txBody>
      </p:sp>
      <p:sp>
        <p:nvSpPr>
          <p:cNvPr id="10" name="TextBox 9"/>
          <p:cNvSpPr txBox="1"/>
          <p:nvPr/>
        </p:nvSpPr>
        <p:spPr>
          <a:xfrm>
            <a:off x="5852160" y="1325880"/>
            <a:ext cx="5715000" cy="3108960"/>
          </a:xfrm>
          <a:prstGeom prst="rect">
            <a:avLst/>
          </a:prstGeom>
          <a:noFill/>
        </p:spPr>
        <p:txBody>
          <a:bodyPr wrap="square" anchor="t" lIns="45720" rIns="45720" tIns="27432" bIns="27432">
            <a:spAutoFit/>
          </a:bodyPr>
          <a:lstStyle/>
          <a:p>
            <a:pPr marL="228600" indent="-228600">
              <a:spcAft>
                <a:spcPts val="700"/>
              </a:spcAft>
              <a:buChar char="•"/>
            </a:pPr>
            <a:r>
              <a:rPr sz="1500" b="1" i="0">
                <a:solidFill>
                  <a:srgbClr val="000000"/>
                </a:solidFill>
                <a:latin typeface="Arial"/>
              </a:rPr>
              <a:t>Network: </a:t>
            </a:r>
            <a:r>
              <a:rPr sz="1500" b="0" i="0">
                <a:solidFill>
                  <a:srgbClr val="000000"/>
                </a:solidFill>
                <a:latin typeface="Arial"/>
              </a:rPr>
              <a:t>two senders share one bottleneck link of 10 Mbps with 20 ms one-way delay. The router uses a DropTail queue (drops new packets when full) holding 100 packets.</a:t>
            </a:r>
          </a:p>
          <a:p>
            <a:pPr marL="228600" indent="-228600">
              <a:spcAft>
                <a:spcPts val="700"/>
              </a:spcAft>
              <a:buChar char="•"/>
            </a:pPr>
            <a:r>
              <a:rPr sz="1500" b="1" i="0">
                <a:solidFill>
                  <a:srgbClr val="000000"/>
                </a:solidFill>
                <a:latin typeface="Arial"/>
              </a:rPr>
              <a:t>Bridge: </a:t>
            </a:r>
            <a:r>
              <a:rPr sz="1500" b="0" i="0">
                <a:solidFill>
                  <a:srgbClr val="000000"/>
                </a:solidFill>
                <a:latin typeface="Arial"/>
              </a:rPr>
              <a:t>ns3-gym exposes ns-3 to Python through Gymnasium. ZeroMQ carries messages and Protocol Buffers (a binary data format) packs them.</a:t>
            </a:r>
          </a:p>
          <a:p>
            <a:pPr marL="228600" indent="-228600">
              <a:spcAft>
                <a:spcPts val="700"/>
              </a:spcAft>
              <a:buChar char="•"/>
            </a:pPr>
            <a:r>
              <a:rPr sz="1500" b="1" i="0">
                <a:solidFill>
                  <a:srgbClr val="000000"/>
                </a:solidFill>
                <a:latin typeface="Arial"/>
              </a:rPr>
              <a:t>Training: Stable-Baselines3, built on PyTorch, runs PPO with a shared policy. The delivered policy was warm-started by behaviour cloning from a reference controller and then refined with PPO. The agent chooses a new action every 100 ms.</a:t>
            </a:r>
            <a:r>
              <a:rPr sz="1500" b="0" i="0">
                <a:solidFill>
                  <a:srgbClr val="000000"/>
                </a:solidFill>
                <a:latin typeface="Arial"/>
              </a:rPr>
              <a:t/>
            </a:r>
          </a:p>
        </p:txBody>
      </p:sp>
      <p:sp>
        <p:nvSpPr>
          <p:cNvPr id="11" name="TextBox 10"/>
          <p:cNvSpPr txBox="1"/>
          <p:nvPr/>
        </p:nvSpPr>
        <p:spPr>
          <a:xfrm>
            <a:off x="640080" y="4526280"/>
            <a:ext cx="10911535" cy="320040"/>
          </a:xfrm>
          <a:prstGeom prst="rect">
            <a:avLst/>
          </a:prstGeom>
          <a:noFill/>
        </p:spPr>
        <p:txBody>
          <a:bodyPr wrap="square" anchor="t" lIns="45720" rIns="45720" tIns="27432" bIns="27432">
            <a:spAutoFit/>
          </a:bodyPr>
          <a:lstStyle/>
          <a:p>
            <a:pPr>
              <a:spcAft>
                <a:spcPts val="0"/>
              </a:spcAft>
            </a:pPr>
            <a:r>
              <a:rPr sz="1500" b="1" i="0">
                <a:solidFill>
                  <a:srgbClr val="000000"/>
                </a:solidFill>
                <a:latin typeface="Arial"/>
              </a:rPr>
              <a:t>Problems found and fixed during implementation</a:t>
            </a:r>
          </a:p>
        </p:txBody>
      </p:sp>
      <p:sp>
        <p:nvSpPr>
          <p:cNvPr id="12" name="Rectangle 11"/>
          <p:cNvSpPr/>
          <p:nvPr/>
        </p:nvSpPr>
        <p:spPr>
          <a:xfrm>
            <a:off x="640080" y="4892040"/>
            <a:ext cx="3454298"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400" b="1" i="0">
                <a:solidFill>
                  <a:srgbClr val="000000"/>
                </a:solidFill>
                <a:latin typeface="Arial"/>
              </a:rPr>
              <a:t>Throughput read as zero</a:t>
            </a:r>
          </a:p>
          <a:p>
            <a:pPr algn="l">
              <a:spcAft>
                <a:spcPts val="300"/>
              </a:spcAft>
            </a:pPr>
            <a:r>
              <a:rPr sz="1300" b="0" i="0">
                <a:solidFill>
                  <a:srgbClr val="000000"/>
                </a:solidFill>
                <a:latin typeface="Arial"/>
              </a:rPr>
              <a:t>Throughput was summed from bytes in flight. It now reads delivered bytes from the receiver.</a:t>
            </a:r>
          </a:p>
        </p:txBody>
      </p:sp>
      <p:sp>
        <p:nvSpPr>
          <p:cNvPr id="13" name="Rectangle 12"/>
          <p:cNvSpPr/>
          <p:nvPr/>
        </p:nvSpPr>
        <p:spPr>
          <a:xfrm>
            <a:off x="4368698" y="4892040"/>
            <a:ext cx="3454298"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400" b="1" i="0">
                <a:solidFill>
                  <a:srgbClr val="000000"/>
                </a:solidFill>
                <a:latin typeface="Arial"/>
              </a:rPr>
              <a:t>Window set to 1100 bytes</a:t>
            </a:r>
          </a:p>
          <a:p>
            <a:pPr algn="l">
              <a:spcAft>
                <a:spcPts val="300"/>
              </a:spcAft>
            </a:pPr>
            <a:r>
              <a:rPr sz="1300" b="0" i="0">
                <a:solidFill>
                  <a:srgbClr val="000000"/>
                </a:solidFill>
                <a:latin typeface="Arial"/>
              </a:rPr>
              <a:t>Actions set an absolute value. They now scale the current window by the chosen multiplier.</a:t>
            </a:r>
          </a:p>
        </p:txBody>
      </p:sp>
      <p:sp>
        <p:nvSpPr>
          <p:cNvPr id="14" name="Rectangle 13"/>
          <p:cNvSpPr/>
          <p:nvPr/>
        </p:nvSpPr>
        <p:spPr>
          <a:xfrm>
            <a:off x="8097316" y="4892040"/>
            <a:ext cx="3454298"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400" b="1" i="0">
                <a:solidFill>
                  <a:srgbClr val="000000"/>
                </a:solidFill>
                <a:latin typeface="Arial"/>
              </a:rPr>
              <a:t>Training crashed with NaN</a:t>
            </a:r>
          </a:p>
          <a:p>
            <a:pPr algn="l">
              <a:spcAft>
                <a:spcPts val="300"/>
              </a:spcAft>
            </a:pPr>
            <a:r>
              <a:rPr sz="1300" b="0" i="0">
                <a:solidFill>
                  <a:srgbClr val="000000"/>
                </a:solidFill>
                <a:latin typeface="Arial"/>
              </a:rPr>
              <a:t>Unscaled inputs broke the training. A Python wrapper now normalizes them.</a:t>
            </a:r>
          </a:p>
        </p:txBody>
      </p:sp>
      <p:pic>
        <p:nvPicPr>
          <p:cNvPr id="15" name="Picture 14" descr="fig_architecture.png"/>
          <p:cNvPicPr>
            <a:picLocks noChangeAspect="1"/>
          </p:cNvPicPr>
          <p:nvPr/>
        </p:nvPicPr>
        <p:blipFill>
          <a:blip r:embed="rId5"/>
          <a:stretch>
            <a:fillRect/>
          </a:stretch>
        </p:blipFill>
        <p:spPr>
          <a:xfrm>
            <a:off x="640080" y="1371600"/>
            <a:ext cx="4937760" cy="2761478"/>
          </a:xfrm>
          <a:prstGeom prst="rect">
            <a:avLst/>
          </a:prstGeom>
        </p:spPr>
      </p:pic>
    </p:spTree>
    <p:extLst>
      <p:ext uri="{BB962C8B-B14F-4D97-AF65-F5344CB8AC3E}">
        <p14:creationId xmlns:p14="http://schemas.microsoft.com/office/powerpoint/2010/main" val="1605897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8511B-0785-38EC-AB60-02A4DD482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6B00B-A205-82BA-32E1-6307367D59B8}"/>
              </a:ext>
            </a:extLst>
          </p:cNvPr>
          <p:cNvSpPr txBox="1">
            <a:spLocks/>
          </p:cNvSpPr>
          <p:nvPr/>
        </p:nvSpPr>
        <p:spPr>
          <a:xfrm>
            <a:off x="2079522" y="284798"/>
            <a:ext cx="6531078" cy="600106"/>
          </a:xfrm>
          <a:prstGeom prst="rect">
            <a:avLst/>
          </a:prstGeom>
        </p:spPr>
        <p:txBody>
          <a:bodyP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RESULTS/FINDINGS</a:t>
            </a:r>
          </a:p>
        </p:txBody>
      </p:sp>
      <p:pic>
        <p:nvPicPr>
          <p:cNvPr id="3" name="Picture 2">
            <a:extLst>
              <a:ext uri="{FF2B5EF4-FFF2-40B4-BE49-F238E27FC236}">
                <a16:creationId xmlns:a16="http://schemas.microsoft.com/office/drawing/2014/main" id="{1F6189DA-04A0-8E9E-D4EF-6F35A77548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451273" y="46672"/>
            <a:ext cx="657803" cy="711726"/>
          </a:xfrm>
          <a:prstGeom prst="rect">
            <a:avLst/>
          </a:prstGeom>
        </p:spPr>
      </p:pic>
      <p:sp>
        <p:nvSpPr>
          <p:cNvPr id="4" name="Footer Placeholder 3">
            <a:extLst>
              <a:ext uri="{FF2B5EF4-FFF2-40B4-BE49-F238E27FC236}">
                <a16:creationId xmlns:a16="http://schemas.microsoft.com/office/drawing/2014/main" id="{B5F5735D-9617-933B-F12B-1EDE8B10981F}"/>
              </a:ext>
            </a:extLst>
          </p:cNvPr>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FEB7CF86-BB52-C69C-93F2-33287B9B7C37}"/>
              </a:ext>
            </a:extLst>
          </p:cNvPr>
          <p:cNvSpPr>
            <a:spLocks noGrp="1"/>
          </p:cNvSpPr>
          <p:nvPr>
            <p:ph type="sldNum" sz="quarter" idx="12"/>
          </p:nvPr>
        </p:nvSpPr>
        <p:spPr/>
        <p:txBody>
          <a:bodyPr/>
          <a:lstStyle/>
          <a:p>
            <a:fld id="{60CB7500-84E7-42C8-9A57-AC33187A24A8}" type="slidenum">
              <a:rPr lang="en-GB" smtClean="0"/>
              <a:t>9</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721F20B4-7508-85D4-03FC-6B3DF101F3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3" y="164410"/>
            <a:ext cx="1028700" cy="476250"/>
          </a:xfrm>
          <a:prstGeom prst="rect">
            <a:avLst/>
          </a:prstGeom>
        </p:spPr>
      </p:pic>
      <p:sp>
        <p:nvSpPr>
          <p:cNvPr id="8" name="TextBox 7"/>
          <p:cNvSpPr txBox="1"/>
          <p:nvPr/>
        </p:nvSpPr>
        <p:spPr>
          <a:xfrm>
            <a:off x="640080" y="1371600"/>
            <a:ext cx="6583680" cy="320040"/>
          </a:xfrm>
          <a:prstGeom prst="rect">
            <a:avLst/>
          </a:prstGeom>
          <a:noFill/>
        </p:spPr>
        <p:txBody>
          <a:bodyPr wrap="square" anchor="t" lIns="45720" rIns="45720" tIns="27432" bIns="27432">
            <a:spAutoFit/>
          </a:bodyPr>
          <a:lstStyle/>
          <a:p>
            <a:pPr>
              <a:spcAft>
                <a:spcPts val="0"/>
              </a:spcAft>
            </a:pPr>
            <a:r>
              <a:rPr sz="1600" b="1" i="0">
                <a:solidFill>
                  <a:srgbClr val="000000"/>
                </a:solidFill>
                <a:latin typeface="Arial"/>
              </a:rPr>
              <a:t>Two-agent evaluation, 60-second run (Table 4.1)</a:t>
            </a:r>
          </a:p>
        </p:txBody>
      </p:sp>
      <p:graphicFrame>
        <p:nvGraphicFramePr>
          <p:cNvPr id="9" name="Table 8"/>
          <p:cNvGraphicFramePr>
            <a:graphicFrameLocks noGrp="1"/>
          </p:cNvGraphicFramePr>
          <p:nvPr/>
        </p:nvGraphicFramePr>
        <p:xfrm>
          <a:off x="640080" y="1737360"/>
          <a:ext cx="6583680" cy="2194560"/>
        </p:xfrm>
        <a:graphic>
          <a:graphicData uri="http://schemas.openxmlformats.org/drawingml/2006/table">
            <a:tbl>
              <a:tblPr firstRow="0" bandRow="0"/>
              <a:tblGrid>
                <a:gridCol w="1828800"/>
                <a:gridCol w="1554480"/>
                <a:gridCol w="1554480"/>
                <a:gridCol w="1645920"/>
              </a:tblGrid>
              <a:tr h="438912">
                <a:tc>
                  <a:txBody>
                    <a:bodyPr/>
                    <a:lstStyle/>
                    <a:p>
                      <a:pPr algn="l"/>
                      <a:r>
                        <a:rPr sz="1600" b="1" i="0">
                          <a:solidFill>
                            <a:srgbClr val="000000"/>
                          </a:solidFill>
                          <a:latin typeface="Arial"/>
                        </a:rPr>
                        <a:t>Metric</a:t>
                      </a:r>
                    </a:p>
                  </a:txBody>
                  <a:tcPr anchor="ctr">
                    <a:solidFill>
                      <a:srgbClr val="F2F2F2"/>
                    </a:solidFill>
                    <a:lnB w="9525">
                      <a:solidFill>
                        <a:srgbClr val="BFBFBF"/>
                      </a:solidFill>
                    </a:lnB>
                  </a:tcPr>
                </a:tc>
                <a:tc>
                  <a:txBody>
                    <a:bodyPr/>
                    <a:lstStyle/>
                    <a:p>
                      <a:pPr algn="ctr"/>
                      <a:r>
                        <a:rPr sz="1600" b="1" i="0">
                          <a:solidFill>
                            <a:srgbClr val="000000"/>
                          </a:solidFill>
                          <a:latin typeface="Arial"/>
                        </a:rPr>
                        <a:t>Agent 1</a:t>
                      </a:r>
                    </a:p>
                  </a:txBody>
                  <a:tcPr anchor="ctr">
                    <a:solidFill>
                      <a:srgbClr val="F2F2F2"/>
                    </a:solidFill>
                    <a:lnB w="9525">
                      <a:solidFill>
                        <a:srgbClr val="BFBFBF"/>
                      </a:solidFill>
                    </a:lnB>
                  </a:tcPr>
                </a:tc>
                <a:tc>
                  <a:txBody>
                    <a:bodyPr/>
                    <a:lstStyle/>
                    <a:p>
                      <a:pPr algn="ctr"/>
                      <a:r>
                        <a:rPr sz="1600" b="1" i="0">
                          <a:solidFill>
                            <a:srgbClr val="000000"/>
                          </a:solidFill>
                          <a:latin typeface="Arial"/>
                        </a:rPr>
                        <a:t>Agent 2</a:t>
                      </a:r>
                    </a:p>
                  </a:txBody>
                  <a:tcPr anchor="ctr">
                    <a:solidFill>
                      <a:srgbClr val="F2F2F2"/>
                    </a:solidFill>
                    <a:lnB w="9525">
                      <a:solidFill>
                        <a:srgbClr val="BFBFBF"/>
                      </a:solidFill>
                    </a:lnB>
                  </a:tcPr>
                </a:tc>
                <a:tc>
                  <a:txBody>
                    <a:bodyPr/>
                    <a:lstStyle/>
                    <a:p>
                      <a:pPr algn="ctr"/>
                      <a:r>
                        <a:rPr sz="1600" b="1" i="0">
                          <a:solidFill>
                            <a:srgbClr val="000000"/>
                          </a:solidFill>
                          <a:latin typeface="Arial"/>
                        </a:rPr>
                        <a:t>Total / Average</a:t>
                      </a:r>
                    </a:p>
                  </a:txBody>
                  <a:tcPr anchor="ctr">
                    <a:solidFill>
                      <a:srgbClr val="F2F2F2"/>
                    </a:solidFill>
                    <a:lnB w="9525">
                      <a:solidFill>
                        <a:srgbClr val="BFBFBF"/>
                      </a:solidFill>
                    </a:lnB>
                  </a:tcPr>
                </a:tc>
              </a:tr>
              <a:tr h="438912">
                <a:tc>
                  <a:txBody>
                    <a:bodyPr/>
                    <a:lstStyle/>
                    <a:p>
                      <a:pPr algn="l"/>
                      <a:r>
                        <a:rPr sz="1600" b="1" i="0">
                          <a:solidFill>
                            <a:srgbClr val="000000"/>
                          </a:solidFill>
                          <a:latin typeface="Arial"/>
                        </a:rPr>
                        <a:t>Throughput</a:t>
                      </a:r>
                    </a:p>
                  </a:txBody>
                  <a:tcPr anchor="ctr">
                    <a:solidFill>
                      <a:srgbClr val="FFFFFF"/>
                    </a:solidFill>
                    <a:lnB w="9525">
                      <a:solidFill>
                        <a:srgbClr val="BFBFBF"/>
                      </a:solidFill>
                    </a:lnB>
                  </a:tcPr>
                </a:tc>
                <a:tc>
                  <a:txBody>
                    <a:bodyPr/>
                    <a:lstStyle/>
                    <a:p>
                      <a:pPr algn="ctr"/>
                      <a:r>
                        <a:rPr sz="1600" b="0" i="0">
                          <a:solidFill>
                            <a:srgbClr val="000000"/>
                          </a:solidFill>
                          <a:latin typeface="Arial"/>
                        </a:rPr>
                        <a:t>4348.2 kbps</a:t>
                      </a:r>
                    </a:p>
                  </a:txBody>
                  <a:tcPr anchor="ctr">
                    <a:solidFill>
                      <a:srgbClr val="FFFFFF"/>
                    </a:solidFill>
                    <a:lnB w="9525">
                      <a:solidFill>
                        <a:srgbClr val="BFBFBF"/>
                      </a:solidFill>
                    </a:lnB>
                  </a:tcPr>
                </a:tc>
                <a:tc>
                  <a:txBody>
                    <a:bodyPr/>
                    <a:lstStyle/>
                    <a:p>
                      <a:pPr algn="ctr"/>
                      <a:r>
                        <a:rPr sz="1600" b="0" i="0">
                          <a:solidFill>
                            <a:srgbClr val="000000"/>
                          </a:solidFill>
                          <a:latin typeface="Arial"/>
                        </a:rPr>
                        <a:t>4348.2 kbps</a:t>
                      </a:r>
                    </a:p>
                  </a:txBody>
                  <a:tcPr anchor="ctr">
                    <a:solidFill>
                      <a:srgbClr val="FFFFFF"/>
                    </a:solidFill>
                    <a:lnB w="9525">
                      <a:solidFill>
                        <a:srgbClr val="BFBFBF"/>
                      </a:solidFill>
                    </a:lnB>
                  </a:tcPr>
                </a:tc>
                <a:tc>
                  <a:txBody>
                    <a:bodyPr/>
                    <a:lstStyle/>
                    <a:p>
                      <a:pPr algn="ctr"/>
                      <a:r>
                        <a:rPr sz="1600" b="1" i="0">
                          <a:solidFill>
                            <a:srgbClr val="000000"/>
                          </a:solidFill>
                          <a:latin typeface="Arial"/>
                        </a:rPr>
                        <a:t>8696.3 kbps</a:t>
                      </a:r>
                    </a:p>
                  </a:txBody>
                  <a:tcPr anchor="ctr">
                    <a:solidFill>
                      <a:srgbClr val="FFFFFF"/>
                    </a:solidFill>
                    <a:lnB w="9525">
                      <a:solidFill>
                        <a:srgbClr val="BFBFBF"/>
                      </a:solidFill>
                    </a:lnB>
                  </a:tcPr>
                </a:tc>
              </a:tr>
              <a:tr h="438912">
                <a:tc>
                  <a:txBody>
                    <a:bodyPr/>
                    <a:lstStyle/>
                    <a:p>
                      <a:pPr algn="l"/>
                      <a:r>
                        <a:rPr sz="1600" b="1" i="0">
                          <a:solidFill>
                            <a:srgbClr val="000000"/>
                          </a:solidFill>
                          <a:latin typeface="Arial"/>
                        </a:rPr>
                        <a:t>Delay</a:t>
                      </a:r>
                    </a:p>
                  </a:txBody>
                  <a:tcPr anchor="ctr">
                    <a:solidFill>
                      <a:srgbClr val="FFFFFF"/>
                    </a:solidFill>
                    <a:lnB w="9525">
                      <a:solidFill>
                        <a:srgbClr val="BFBFBF"/>
                      </a:solidFill>
                    </a:lnB>
                  </a:tcPr>
                </a:tc>
                <a:tc>
                  <a:txBody>
                    <a:bodyPr/>
                    <a:lstStyle/>
                    <a:p>
                      <a:pPr algn="ctr"/>
                      <a:r>
                        <a:rPr sz="1600" b="0" i="0">
                          <a:solidFill>
                            <a:srgbClr val="000000"/>
                          </a:solidFill>
                          <a:latin typeface="Arial"/>
                        </a:rPr>
                        <a:t>22.81 ms</a:t>
                      </a:r>
                    </a:p>
                  </a:txBody>
                  <a:tcPr anchor="ctr">
                    <a:solidFill>
                      <a:srgbClr val="FFFFFF"/>
                    </a:solidFill>
                    <a:lnB w="9525">
                      <a:solidFill>
                        <a:srgbClr val="BFBFBF"/>
                      </a:solidFill>
                    </a:lnB>
                  </a:tcPr>
                </a:tc>
                <a:tc>
                  <a:txBody>
                    <a:bodyPr/>
                    <a:lstStyle/>
                    <a:p>
                      <a:pPr algn="ctr"/>
                      <a:r>
                        <a:rPr sz="1600" b="0" i="0">
                          <a:solidFill>
                            <a:srgbClr val="000000"/>
                          </a:solidFill>
                          <a:latin typeface="Arial"/>
                        </a:rPr>
                        <a:t>22.80 ms</a:t>
                      </a:r>
                    </a:p>
                  </a:txBody>
                  <a:tcPr anchor="ctr">
                    <a:solidFill>
                      <a:srgbClr val="FFFFFF"/>
                    </a:solidFill>
                    <a:lnB w="9525">
                      <a:solidFill>
                        <a:srgbClr val="BFBFBF"/>
                      </a:solidFill>
                    </a:lnB>
                  </a:tcPr>
                </a:tc>
                <a:tc>
                  <a:txBody>
                    <a:bodyPr/>
                    <a:lstStyle/>
                    <a:p>
                      <a:pPr algn="ctr"/>
                      <a:r>
                        <a:rPr sz="1600" b="1" i="0">
                          <a:solidFill>
                            <a:srgbClr val="000000"/>
                          </a:solidFill>
                          <a:latin typeface="Arial"/>
                        </a:rPr>
                        <a:t>22.80 ms</a:t>
                      </a:r>
                    </a:p>
                  </a:txBody>
                  <a:tcPr anchor="ctr">
                    <a:solidFill>
                      <a:srgbClr val="FFFFFF"/>
                    </a:solidFill>
                    <a:lnB w="9525">
                      <a:solidFill>
                        <a:srgbClr val="BFBFBF"/>
                      </a:solidFill>
                    </a:lnB>
                  </a:tcPr>
                </a:tc>
              </a:tr>
              <a:tr h="438912">
                <a:tc>
                  <a:txBody>
                    <a:bodyPr/>
                    <a:lstStyle/>
                    <a:p>
                      <a:pPr algn="l"/>
                      <a:r>
                        <a:rPr sz="1600" b="1" i="0">
                          <a:solidFill>
                            <a:srgbClr val="000000"/>
                          </a:solidFill>
                          <a:latin typeface="Arial"/>
                        </a:rPr>
                        <a:t>Loss ratio</a:t>
                      </a:r>
                    </a:p>
                  </a:txBody>
                  <a:tcPr anchor="ctr">
                    <a:solidFill>
                      <a:srgbClr val="FFFFFF"/>
                    </a:solidFill>
                    <a:lnB w="9525">
                      <a:solidFill>
                        <a:srgbClr val="BFBFBF"/>
                      </a:solidFill>
                    </a:lnB>
                  </a:tcPr>
                </a:tc>
                <a:tc>
                  <a:txBody>
                    <a:bodyPr/>
                    <a:lstStyle/>
                    <a:p>
                      <a:pPr algn="ctr"/>
                      <a:r>
                        <a:rPr sz="1600" b="0" i="0">
                          <a:solidFill>
                            <a:srgbClr val="000000"/>
                          </a:solidFill>
                          <a:latin typeface="Arial"/>
                        </a:rPr>
                        <a:t>0.00%</a:t>
                      </a:r>
                    </a:p>
                  </a:txBody>
                  <a:tcPr anchor="ctr">
                    <a:solidFill>
                      <a:srgbClr val="FFFFFF"/>
                    </a:solidFill>
                    <a:lnB w="9525">
                      <a:solidFill>
                        <a:srgbClr val="BFBFBF"/>
                      </a:solidFill>
                    </a:lnB>
                  </a:tcPr>
                </a:tc>
                <a:tc>
                  <a:txBody>
                    <a:bodyPr/>
                    <a:lstStyle/>
                    <a:p>
                      <a:pPr algn="ctr"/>
                      <a:r>
                        <a:rPr sz="1600" b="0" i="0">
                          <a:solidFill>
                            <a:srgbClr val="000000"/>
                          </a:solidFill>
                          <a:latin typeface="Arial"/>
                        </a:rPr>
                        <a:t>0.00%</a:t>
                      </a:r>
                    </a:p>
                  </a:txBody>
                  <a:tcPr anchor="ctr">
                    <a:solidFill>
                      <a:srgbClr val="FFFFFF"/>
                    </a:solidFill>
                    <a:lnB w="9525">
                      <a:solidFill>
                        <a:srgbClr val="BFBFBF"/>
                      </a:solidFill>
                    </a:lnB>
                  </a:tcPr>
                </a:tc>
                <a:tc>
                  <a:txBody>
                    <a:bodyPr/>
                    <a:lstStyle/>
                    <a:p>
                      <a:pPr algn="ctr"/>
                      <a:r>
                        <a:rPr sz="1600" b="1" i="0">
                          <a:solidFill>
                            <a:srgbClr val="000000"/>
                          </a:solidFill>
                          <a:latin typeface="Arial"/>
                        </a:rPr>
                        <a:t>0.000%</a:t>
                      </a:r>
                    </a:p>
                  </a:txBody>
                  <a:tcPr anchor="ctr">
                    <a:solidFill>
                      <a:srgbClr val="FFFFFF"/>
                    </a:solidFill>
                    <a:lnB w="9525">
                      <a:solidFill>
                        <a:srgbClr val="BFBFBF"/>
                      </a:solidFill>
                    </a:lnB>
                  </a:tcPr>
                </a:tc>
              </a:tr>
              <a:tr h="438912">
                <a:tc>
                  <a:txBody>
                    <a:bodyPr/>
                    <a:lstStyle/>
                    <a:p>
                      <a:pPr algn="l"/>
                      <a:r>
                        <a:rPr sz="1600" b="1" i="0">
                          <a:solidFill>
                            <a:srgbClr val="000000"/>
                          </a:solidFill>
                          <a:latin typeface="Arial"/>
                        </a:rPr>
                        <a:t>Jain's Fairness</a:t>
                      </a:r>
                    </a:p>
                  </a:txBody>
                  <a:tcPr anchor="ctr">
                    <a:solidFill>
                      <a:srgbClr val="FFFFFF"/>
                    </a:solidFill>
                    <a:lnB w="9525">
                      <a:solidFill>
                        <a:srgbClr val="BFBFBF"/>
                      </a:solidFill>
                    </a:lnB>
                  </a:tcPr>
                </a:tc>
                <a:tc>
                  <a:txBody>
                    <a:bodyPr/>
                    <a:lstStyle/>
                    <a:p>
                      <a:pPr algn="ctr"/>
                      <a:r>
                        <a:rPr sz="1600" b="0" i="0">
                          <a:solidFill>
                            <a:srgbClr val="000000"/>
                          </a:solidFill>
                          <a:latin typeface="Arial"/>
                        </a:rPr>
                        <a:t>-</a:t>
                      </a:r>
                    </a:p>
                  </a:txBody>
                  <a:tcPr anchor="ctr">
                    <a:solidFill>
                      <a:srgbClr val="FFFFFF"/>
                    </a:solidFill>
                    <a:lnB w="9525">
                      <a:solidFill>
                        <a:srgbClr val="BFBFBF"/>
                      </a:solidFill>
                    </a:lnB>
                  </a:tcPr>
                </a:tc>
                <a:tc>
                  <a:txBody>
                    <a:bodyPr/>
                    <a:lstStyle/>
                    <a:p>
                      <a:pPr algn="ctr"/>
                      <a:r>
                        <a:rPr sz="1600" b="0" i="0">
                          <a:solidFill>
                            <a:srgbClr val="000000"/>
                          </a:solidFill>
                          <a:latin typeface="Arial"/>
                        </a:rPr>
                        <a:t>-</a:t>
                      </a:r>
                    </a:p>
                  </a:txBody>
                  <a:tcPr anchor="ctr">
                    <a:solidFill>
                      <a:srgbClr val="FFFFFF"/>
                    </a:solidFill>
                    <a:lnB w="9525">
                      <a:solidFill>
                        <a:srgbClr val="BFBFBF"/>
                      </a:solidFill>
                    </a:lnB>
                  </a:tcPr>
                </a:tc>
                <a:tc>
                  <a:txBody>
                    <a:bodyPr/>
                    <a:lstStyle/>
                    <a:p>
                      <a:pPr algn="ctr"/>
                      <a:r>
                        <a:rPr sz="1600" b="1" i="0">
                          <a:solidFill>
                            <a:srgbClr val="000000"/>
                          </a:solidFill>
                          <a:latin typeface="Arial"/>
                        </a:rPr>
                        <a:t>1.0000</a:t>
                      </a:r>
                    </a:p>
                  </a:txBody>
                  <a:tcPr anchor="ctr">
                    <a:solidFill>
                      <a:srgbClr val="FFFFFF"/>
                    </a:solidFill>
                    <a:lnB w="9525">
                      <a:solidFill>
                        <a:srgbClr val="BFBFBF"/>
                      </a:solidFill>
                    </a:lnB>
                  </a:tcPr>
                </a:tc>
              </a:tr>
            </a:tbl>
          </a:graphicData>
        </a:graphic>
      </p:graphicFrame>
      <p:sp>
        <p:nvSpPr>
          <p:cNvPr id="10" name="Rectangle 9"/>
          <p:cNvSpPr/>
          <p:nvPr/>
        </p:nvSpPr>
        <p:spPr>
          <a:xfrm>
            <a:off x="7680960" y="1737360"/>
            <a:ext cx="384048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000000"/>
                </a:solidFill>
                <a:latin typeface="Arial"/>
              </a:rPr>
              <a:t>86.96%</a:t>
            </a:r>
          </a:p>
          <a:p>
            <a:pPr algn="ctr"/>
            <a:r>
              <a:rPr sz="1400" b="0" i="0">
                <a:solidFill>
                  <a:srgbClr val="000000"/>
                </a:solidFill>
                <a:latin typeface="Arial"/>
              </a:rPr>
              <a:t>of the 10 Mbps link used</a:t>
            </a:r>
          </a:p>
        </p:txBody>
      </p:sp>
      <p:sp>
        <p:nvSpPr>
          <p:cNvPr id="11" name="Rectangle 10"/>
          <p:cNvSpPr/>
          <p:nvPr/>
        </p:nvSpPr>
        <p:spPr>
          <a:xfrm>
            <a:off x="7680960" y="2971800"/>
            <a:ext cx="384048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000000"/>
                </a:solidFill>
                <a:latin typeface="Arial"/>
              </a:rPr>
              <a:t>1.0000</a:t>
            </a:r>
          </a:p>
          <a:p>
            <a:pPr algn="ctr"/>
            <a:r>
              <a:rPr sz="1400" b="0" i="0">
                <a:solidFill>
                  <a:srgbClr val="000000"/>
                </a:solidFill>
                <a:latin typeface="Arial"/>
              </a:rPr>
              <a:t>Jain's Fairness Index (1.0 is equal)</a:t>
            </a:r>
          </a:p>
        </p:txBody>
      </p:sp>
      <p:sp>
        <p:nvSpPr>
          <p:cNvPr id="12" name="Rectangle 11"/>
          <p:cNvSpPr/>
          <p:nvPr/>
        </p:nvSpPr>
        <p:spPr>
          <a:xfrm>
            <a:off x="8028000" y="4176000"/>
            <a:ext cx="3528000" cy="1944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600" b="1" i="0">
                <a:solidFill>
                  <a:srgbClr val="000000"/>
                </a:solidFill>
                <a:latin typeface="Arial"/>
              </a:rPr>
              <a:t>Training</a:t>
            </a:r>
          </a:p>
          <a:p>
            <a:pPr algn="l">
              <a:spcAft>
                <a:spcPts val="300"/>
              </a:spcAft>
            </a:pPr>
            <a:r>
              <a:rPr sz="1600" b="0" i="0">
                <a:solidFill>
                  <a:srgbClr val="000000"/>
                </a:solidFill>
                <a:latin typeface="Arial"/>
              </a:rPr>
              <a:t>The shared policy was warm-started by behaviour cloning from a reference controller and then refined with PPO. It holds the window near the bandwidth-delay product of the bottleneck.</a:t>
            </a:r>
          </a:p>
        </p:txBody>
      </p:sp>
      <p:pic>
        <p:nvPicPr>
          <p:cNvPr id="13" name="Picture 12" descr="fig_slide_metrics.png"/>
          <p:cNvPicPr>
            <a:picLocks noChangeAspect="1"/>
          </p:cNvPicPr>
          <p:nvPr/>
        </p:nvPicPr>
        <p:blipFill>
          <a:blip r:embed="rId4"/>
          <a:stretch>
            <a:fillRect/>
          </a:stretch>
        </p:blipFill>
        <p:spPr>
          <a:xfrm>
            <a:off x="648000" y="4176000"/>
            <a:ext cx="7200000" cy="1944000"/>
          </a:xfrm>
          <a:prstGeom prst="rect">
            <a:avLst/>
          </a:prstGeom>
        </p:spPr>
      </p:pic>
    </p:spTree>
    <p:extLst>
      <p:ext uri="{BB962C8B-B14F-4D97-AF65-F5344CB8AC3E}">
        <p14:creationId xmlns:p14="http://schemas.microsoft.com/office/powerpoint/2010/main" val="37946906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8511B-0785-38EC-AB60-02A4DD482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6B00B-A205-82BA-32E1-6307367D59B8}"/>
              </a:ext>
            </a:extLst>
          </p:cNvPr>
          <p:cNvSpPr txBox="1">
            <a:spLocks/>
          </p:cNvSpPr>
          <p:nvPr/>
        </p:nvSpPr>
        <p:spPr>
          <a:xfrm>
            <a:off x="2079522" y="284798"/>
            <a:ext cx="6531078" cy="600106"/>
          </a:xfrm>
          <a:prstGeom prst="rect">
            <a:avLst/>
          </a:prstGeom>
        </p:spPr>
        <p:txBody>
          <a:bodyP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RESULTS/FINDINGS (CONTINUED)</a:t>
            </a:r>
          </a:p>
        </p:txBody>
      </p:sp>
      <p:pic>
        <p:nvPicPr>
          <p:cNvPr id="3" name="Picture 2">
            <a:extLst>
              <a:ext uri="{FF2B5EF4-FFF2-40B4-BE49-F238E27FC236}">
                <a16:creationId xmlns:a16="http://schemas.microsoft.com/office/drawing/2014/main" id="{1F6189DA-04A0-8E9E-D4EF-6F35A77548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451273" y="46672"/>
            <a:ext cx="657803" cy="711726"/>
          </a:xfrm>
          <a:prstGeom prst="rect">
            <a:avLst/>
          </a:prstGeom>
        </p:spPr>
      </p:pic>
      <p:sp>
        <p:nvSpPr>
          <p:cNvPr id="4" name="Footer Placeholder 3">
            <a:extLst>
              <a:ext uri="{FF2B5EF4-FFF2-40B4-BE49-F238E27FC236}">
                <a16:creationId xmlns:a16="http://schemas.microsoft.com/office/drawing/2014/main" id="{B5F5735D-9617-933B-F12B-1EDE8B10981F}"/>
              </a:ext>
            </a:extLst>
          </p:cNvPr>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FEB7CF86-BB52-C69C-93F2-33287B9B7C37}"/>
              </a:ext>
            </a:extLst>
          </p:cNvPr>
          <p:cNvSpPr>
            <a:spLocks noGrp="1"/>
          </p:cNvSpPr>
          <p:nvPr>
            <p:ph type="sldNum" sz="quarter" idx="12"/>
          </p:nvPr>
        </p:nvSpPr>
        <p:spPr/>
        <p:txBody>
          <a:bodyPr/>
          <a:lstStyle/>
          <a:p>
            <a:fld id="{60CB7500-84E7-42C8-9A57-AC33187A24A8}" type="slidenum">
              <a:rPr lang="en-GB" smtClean="0"/>
              <a:t>9</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721F20B4-7508-85D4-03FC-6B3DF101F3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3" y="164410"/>
            <a:ext cx="1028700" cy="476250"/>
          </a:xfrm>
          <a:prstGeom prst="rect">
            <a:avLst/>
          </a:prstGeom>
        </p:spPr>
      </p:pic>
      <p:sp>
        <p:nvSpPr>
          <p:cNvPr id="8" name="TextBox 7"/>
          <p:cNvSpPr txBox="1"/>
          <p:nvPr/>
        </p:nvSpPr>
        <p:spPr>
          <a:xfrm>
            <a:off x="640080" y="1371600"/>
            <a:ext cx="10911535" cy="822960"/>
          </a:xfrm>
          <a:prstGeom prst="rect">
            <a:avLst/>
          </a:prstGeom>
          <a:noFill/>
        </p:spPr>
        <p:txBody>
          <a:bodyPr wrap="square" anchor="t" lIns="45720" rIns="45720" tIns="27432" bIns="27432">
            <a:spAutoFit/>
          </a:bodyPr>
          <a:lstStyle/>
          <a:p>
            <a:pPr>
              <a:spcAft>
                <a:spcPts val="0"/>
              </a:spcAft>
            </a:pPr>
            <a:r>
              <a:rPr sz="1800" b="1" i="0">
                <a:solidFill>
                  <a:srgbClr val="000000"/>
                </a:solidFill>
                <a:latin typeface="Arial"/>
              </a:rPr>
              <a:t>An earlier evaluation produced numbers identical to two standard TCP CUBIC flows. The fault was found and corrected, and the policy now controls the congestion window.</a:t>
            </a:r>
          </a:p>
        </p:txBody>
      </p:sp>
      <p:sp>
        <p:nvSpPr>
          <p:cNvPr id="9" name="Rectangle 8"/>
          <p:cNvSpPr/>
          <p:nvPr/>
        </p:nvSpPr>
        <p:spPr>
          <a:xfrm>
            <a:off x="640080" y="2240280"/>
            <a:ext cx="3454298"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600" b="1" i="0">
                <a:solidFill>
                  <a:srgbClr val="000000"/>
                </a:solidFill>
                <a:latin typeface="Arial"/>
              </a:rPr>
              <a:t>1. Configuration order</a:t>
            </a:r>
          </a:p>
          <a:p>
            <a:pPr algn="l">
              <a:spcAft>
                <a:spcPts val="300"/>
              </a:spcAft>
            </a:pPr>
            <a:r>
              <a:rPr sz="1500" b="0" i="0">
                <a:solidFill>
                  <a:srgbClr val="000000"/>
                </a:solidFill>
                <a:latin typeface="Arial"/>
              </a:rPr>
              <a:t>A custom no-op class disables ns-3 congestion control. It was configured before the TCP protocol object existed, so the setting matched nothing.</a:t>
            </a:r>
          </a:p>
        </p:txBody>
      </p:sp>
      <p:sp>
        <p:nvSpPr>
          <p:cNvPr id="10" name="Rectangle 9"/>
          <p:cNvSpPr/>
          <p:nvPr/>
        </p:nvSpPr>
        <p:spPr>
          <a:xfrm>
            <a:off x="4368698" y="2240280"/>
            <a:ext cx="3454298"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600" b="1" i="0">
                <a:solidFill>
                  <a:srgbClr val="000000"/>
                </a:solidFill>
                <a:latin typeface="Arial"/>
              </a:rPr>
              <a:t>2. Silent default</a:t>
            </a:r>
          </a:p>
          <a:p>
            <a:pPr algn="l">
              <a:spcAft>
                <a:spcPts val="300"/>
              </a:spcAft>
            </a:pPr>
            <a:r>
              <a:rPr sz="1500" b="0" i="0">
                <a:solidFill>
                  <a:srgbClr val="000000"/>
                </a:solidFill>
                <a:latin typeface="Arial"/>
              </a:rPr>
              <a:t>The configuration function does not report a miss. Every socket used the default, TCP CUBIC, which changed the window on every acknowledgment.</a:t>
            </a:r>
          </a:p>
        </p:txBody>
      </p:sp>
      <p:sp>
        <p:nvSpPr>
          <p:cNvPr id="11" name="Rectangle 10"/>
          <p:cNvSpPr/>
          <p:nvPr/>
        </p:nvSpPr>
        <p:spPr>
          <a:xfrm>
            <a:off x="8097316" y="2240280"/>
            <a:ext cx="3454298"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600" b="1" i="0">
                <a:solidFill>
                  <a:srgbClr val="000000"/>
                </a:solidFill>
                <a:latin typeface="Arial"/>
              </a:rPr>
              <a:t>3. Corrected and verified</a:t>
            </a:r>
          </a:p>
          <a:p>
            <a:pPr algn="l">
              <a:spcAft>
                <a:spcPts val="300"/>
              </a:spcAft>
            </a:pPr>
            <a:r>
              <a:rPr sz="1500" b="0" i="0">
                <a:solidFill>
                  <a:srgbClr val="000000"/>
                </a:solidFill>
                <a:latin typeface="Arial"/>
              </a:rPr>
              <a:t>The setting now runs after the internet stack installs and aborts on a miss. The program prints the live algorithm name, NoOpTcpCongestion.</a:t>
            </a:r>
          </a:p>
        </p:txBody>
      </p:sp>
      <p:sp>
        <p:nvSpPr>
          <p:cNvPr id="12" name="Rectangle 11"/>
          <p:cNvSpPr/>
          <p:nvPr/>
        </p:nvSpPr>
        <p:spPr>
          <a:xfrm>
            <a:off x="640080" y="4846320"/>
            <a:ext cx="10911535" cy="1417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600" b="1" i="0">
                <a:solidFill>
                  <a:srgbClr val="000000"/>
                </a:solidFill>
                <a:latin typeface="Arial"/>
              </a:rPr>
              <a:t>What holds now</a:t>
            </a:r>
          </a:p>
          <a:p>
            <a:pPr algn="l">
              <a:spcAft>
                <a:spcPts val="300"/>
              </a:spcAft>
            </a:pPr>
            <a:r>
              <a:rPr sz="1400" b="0" i="0">
                <a:solidFill>
                  <a:srgbClr val="000000"/>
                </a:solidFill>
                <a:latin typeface="Arial"/>
              </a:rPr>
              <a:t>The RL actions own the window. A constant hold action keeps cwnd at exactly 5,360 bytes, which CUBIC cannot do.</a:t>
            </a:r>
          </a:p>
          <a:p>
            <a:pPr algn="l">
              <a:spcAft>
                <a:spcPts val="300"/>
              </a:spcAft>
            </a:pPr>
            <a:r>
              <a:rPr sz="1400" b="0" i="0">
                <a:solidFill>
                  <a:srgbClr val="000000"/>
                </a:solidFill>
                <a:latin typeface="Arial"/>
              </a:rPr>
              <a:t>The corrected policy keeps 86.96 percent of the link busy with 22.80 ms delay, no measured loss and a Jain fairness index of 1.0000.</a:t>
            </a:r>
          </a:p>
        </p:txBody>
      </p:sp>
    </p:spTree>
    <p:extLst>
      <p:ext uri="{BB962C8B-B14F-4D97-AF65-F5344CB8AC3E}">
        <p14:creationId xmlns:p14="http://schemas.microsoft.com/office/powerpoint/2010/main" val="37946906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6091A-AADB-110E-A34A-36C3113132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E2510C-D49A-E94F-5B59-ACD357D92833}"/>
              </a:ext>
            </a:extLst>
          </p:cNvPr>
          <p:cNvSpPr txBox="1">
            <a:spLocks/>
          </p:cNvSpPr>
          <p:nvPr/>
        </p:nvSpPr>
        <p:spPr>
          <a:xfrm>
            <a:off x="2079522" y="284798"/>
            <a:ext cx="6531078" cy="600106"/>
          </a:xfrm>
          <a:prstGeom prst="rect">
            <a:avLst/>
          </a:prstGeom>
        </p:spPr>
        <p:txBody>
          <a:bodyP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latin typeface="Corbel" panose="020B0503020204020204" pitchFamily="34" charset="0"/>
                <a:cs typeface="Arial" panose="020B0604020202020204" pitchFamily="34" charset="0"/>
              </a:rPr>
              <a:t>CONTRIBUTION TO KNOWLEDGE</a:t>
            </a:r>
          </a:p>
        </p:txBody>
      </p:sp>
      <p:pic>
        <p:nvPicPr>
          <p:cNvPr id="3" name="Picture 2">
            <a:extLst>
              <a:ext uri="{FF2B5EF4-FFF2-40B4-BE49-F238E27FC236}">
                <a16:creationId xmlns:a16="http://schemas.microsoft.com/office/drawing/2014/main" id="{0E0AA747-30A6-6D37-1DE3-60CA4A1BB52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451273" y="46672"/>
            <a:ext cx="657803" cy="711726"/>
          </a:xfrm>
          <a:prstGeom prst="rect">
            <a:avLst/>
          </a:prstGeom>
        </p:spPr>
      </p:pic>
      <p:sp>
        <p:nvSpPr>
          <p:cNvPr id="4" name="Footer Placeholder 3">
            <a:extLst>
              <a:ext uri="{FF2B5EF4-FFF2-40B4-BE49-F238E27FC236}">
                <a16:creationId xmlns:a16="http://schemas.microsoft.com/office/drawing/2014/main" id="{62834879-5FB4-89FA-5AC5-2E82A0CA9624}"/>
              </a:ext>
            </a:extLst>
          </p:cNvPr>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602C8DA8-AB12-0395-F01A-0BF6C1822165}"/>
              </a:ext>
            </a:extLst>
          </p:cNvPr>
          <p:cNvSpPr>
            <a:spLocks noGrp="1"/>
          </p:cNvSpPr>
          <p:nvPr>
            <p:ph type="sldNum" sz="quarter" idx="12"/>
          </p:nvPr>
        </p:nvSpPr>
        <p:spPr/>
        <p:txBody>
          <a:bodyPr/>
          <a:lstStyle/>
          <a:p>
            <a:fld id="{60CB7500-84E7-42C8-9A57-AC33187A24A8}" type="slidenum">
              <a:rPr lang="en-GB" smtClean="0"/>
              <a:t>10</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C1B8E253-56E0-E974-01EF-2EDB6D498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3" y="164410"/>
            <a:ext cx="1028700" cy="476250"/>
          </a:xfrm>
          <a:prstGeom prst="rect">
            <a:avLst/>
          </a:prstGeom>
        </p:spPr>
      </p:pic>
      <p:sp>
        <p:nvSpPr>
          <p:cNvPr id="8" name="Rectangle 7"/>
          <p:cNvSpPr/>
          <p:nvPr/>
        </p:nvSpPr>
        <p:spPr>
          <a:xfrm>
            <a:off x="640080" y="1417320"/>
            <a:ext cx="5318607" cy="2148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800" b="1" i="0">
                <a:solidFill>
                  <a:srgbClr val="000000"/>
                </a:solidFill>
                <a:latin typeface="Arial"/>
              </a:rPr>
              <a:t>A reference implementation</a:t>
            </a:r>
          </a:p>
          <a:p>
            <a:pPr algn="l">
              <a:spcAft>
                <a:spcPts val="300"/>
              </a:spcAft>
            </a:pPr>
            <a:r>
              <a:rPr sz="1600" b="0" i="0">
                <a:solidFill>
                  <a:srgbClr val="000000"/>
                </a:solidFill>
                <a:latin typeface="Arial"/>
              </a:rPr>
              <a:t>A cooperative multi-agent formulation of congestion control, built with ns-3, ns3-gym, and PPO, using a reward based on Jain's Fairness Index. Code and models are public: github.com/Ksschkw/CongestiQ-FYP</a:t>
            </a:r>
          </a:p>
        </p:txBody>
      </p:sp>
      <p:sp>
        <p:nvSpPr>
          <p:cNvPr id="9" name="Rectangle 8"/>
          <p:cNvSpPr/>
          <p:nvPr/>
        </p:nvSpPr>
        <p:spPr>
          <a:xfrm>
            <a:off x="6233007" y="1417320"/>
            <a:ext cx="5318607" cy="2148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800" b="1" i="0">
                <a:solidFill>
                  <a:srgbClr val="000000"/>
                </a:solidFill>
                <a:latin typeface="Arial"/>
              </a:rPr>
              <a:t>Engineering documentation</a:t>
            </a:r>
          </a:p>
          <a:p>
            <a:pPr algn="l">
              <a:spcAft>
                <a:spcPts val="300"/>
              </a:spcAft>
            </a:pPr>
            <a:r>
              <a:rPr sz="1600" b="0" i="0">
                <a:solidFill>
                  <a:srgbClr val="000000"/>
                </a:solidFill>
                <a:latin typeface="Arial"/>
              </a:rPr>
              <a:t>A record of the failure points when linking Python learning code to the ns-3 C++ transport layer: the throughput bug, the action bug, and the silent socket factory fallback.</a:t>
            </a:r>
          </a:p>
        </p:txBody>
      </p:sp>
      <p:sp>
        <p:nvSpPr>
          <p:cNvPr id="10" name="Rectangle 9"/>
          <p:cNvSpPr/>
          <p:nvPr/>
        </p:nvSpPr>
        <p:spPr>
          <a:xfrm>
            <a:off x="640080" y="3749039"/>
            <a:ext cx="5318607" cy="24231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800" b="1" i="0">
                <a:solidFill>
                  <a:srgbClr val="000000"/>
                </a:solidFill>
                <a:latin typeface="Arial"/>
              </a:rPr>
              <a:t>A systems finding</a:t>
            </a:r>
          </a:p>
          <a:p>
            <a:pPr algn="l">
              <a:spcAft>
                <a:spcPts val="300"/>
              </a:spcAft>
            </a:pPr>
            <a:r>
              <a:rPr sz="1600" b="0" i="0">
                <a:solidFill>
                  <a:srgbClr val="000000"/>
                </a:solidFill>
                <a:latin typeface="Arial"/>
              </a:rPr>
              <a:t>Unless a learned policy is built into the socket initialization factory, the native congestion algorithm takes back control of the window.</a:t>
            </a:r>
          </a:p>
        </p:txBody>
      </p:sp>
      <p:sp>
        <p:nvSpPr>
          <p:cNvPr id="11" name="Rectangle 10"/>
          <p:cNvSpPr/>
          <p:nvPr/>
        </p:nvSpPr>
        <p:spPr>
          <a:xfrm>
            <a:off x="6233007" y="3749039"/>
            <a:ext cx="5318607" cy="24231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91440"/>
          <a:lstStyle/>
          <a:p>
            <a:pPr algn="l">
              <a:spcAft>
                <a:spcPts val="500"/>
              </a:spcAft>
            </a:pPr>
            <a:r>
              <a:rPr sz="1800" b="1" i="0">
                <a:solidFill>
                  <a:srgbClr val="000000"/>
                </a:solidFill>
                <a:latin typeface="Arial"/>
              </a:rPr>
              <a:t>Recommended next steps</a:t>
            </a:r>
          </a:p>
          <a:p>
            <a:pPr algn="l">
              <a:spcAft>
                <a:spcPts val="300"/>
              </a:spcAft>
            </a:pPr>
            <a:r>
              <a:rPr sz="1600" b="0" i="0">
                <a:solidFill>
                  <a:srgbClr val="000000"/>
                </a:solidFill>
                <a:latin typeface="Arial"/>
              </a:rPr>
              <a:t>1. Write a custom TcpSocketBase factory.</a:t>
            </a:r>
          </a:p>
          <a:p>
            <a:pPr algn="l">
              <a:spcAft>
                <a:spcPts val="300"/>
              </a:spcAft>
            </a:pPr>
            <a:r>
              <a:rPr sz="1600" b="0" i="0">
                <a:solidFill>
                  <a:srgbClr val="000000"/>
                </a:solidFill>
                <a:latin typeface="Arial"/>
              </a:rPr>
              <a:t>2. Compile the trained network into an Extended Berkeley Packet Filter (eBPF) program for the Linux kernel.</a:t>
            </a:r>
          </a:p>
          <a:p>
            <a:pPr algn="l">
              <a:spcAft>
                <a:spcPts val="300"/>
              </a:spcAft>
            </a:pPr>
            <a:r>
              <a:rPr sz="1600" b="0" i="0">
                <a:solidFill>
                  <a:srgbClr val="000000"/>
                </a:solidFill>
                <a:latin typeface="Arial"/>
              </a:rPr>
              <a:t>3. Test in an emulator such as Mininet.</a:t>
            </a:r>
          </a:p>
          <a:p>
            <a:pPr algn="l">
              <a:spcAft>
                <a:spcPts val="300"/>
              </a:spcAft>
            </a:pPr>
            <a:r>
              <a:rPr sz="1600" b="0" i="0">
                <a:solidFill>
                  <a:srgbClr val="000000"/>
                </a:solidFill>
                <a:latin typeface="Arial"/>
              </a:rPr>
              <a:t>4. Trigger decisions once per round-trip time, not on a 100 ms timer.</a:t>
            </a:r>
          </a:p>
        </p:txBody>
      </p:sp>
    </p:spTree>
    <p:extLst>
      <p:ext uri="{BB962C8B-B14F-4D97-AF65-F5344CB8AC3E}">
        <p14:creationId xmlns:p14="http://schemas.microsoft.com/office/powerpoint/2010/main" val="1113124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p:cNvSpPr>
          <p:nvPr/>
        </p:nvSpPr>
        <p:spPr>
          <a:xfrm>
            <a:off x="2916844" y="2863029"/>
            <a:ext cx="6471919" cy="145983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sz="6600" b="1" dirty="0">
                <a:latin typeface="Corbel" panose="020B0503020204020204" pitchFamily="34" charset="0"/>
                <a:ea typeface="Arial" charset="0"/>
                <a:cs typeface="Arial" charset="0"/>
              </a:rPr>
              <a:t>QUESTIONS?</a:t>
            </a: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79920" y="26962"/>
            <a:ext cx="787333" cy="851874"/>
          </a:xfrm>
          <a:prstGeom prst="rect">
            <a:avLst/>
          </a:prstGeom>
        </p:spPr>
      </p:pic>
      <p:sp>
        <p:nvSpPr>
          <p:cNvPr id="4" name="Footer Placeholder 3"/>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DACB4B0A-D17E-4CDB-A3CE-5970C97DEA10}"/>
              </a:ext>
            </a:extLst>
          </p:cNvPr>
          <p:cNvSpPr>
            <a:spLocks noGrp="1"/>
          </p:cNvSpPr>
          <p:nvPr>
            <p:ph type="sldNum" sz="quarter" idx="12"/>
          </p:nvPr>
        </p:nvSpPr>
        <p:spPr/>
        <p:txBody>
          <a:bodyPr/>
          <a:lstStyle/>
          <a:p>
            <a:fld id="{60CB7500-84E7-42C8-9A57-AC33187A24A8}" type="slidenum">
              <a:rPr lang="en-GB" smtClean="0"/>
              <a:t>11</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CCACE4D8-B727-00FB-6E4F-4CF49BCB08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747" y="202497"/>
            <a:ext cx="1028700" cy="476250"/>
          </a:xfrm>
          <a:prstGeom prst="rect">
            <a:avLst/>
          </a:prstGeom>
        </p:spPr>
      </p:pic>
    </p:spTree>
    <p:extLst>
      <p:ext uri="{BB962C8B-B14F-4D97-AF65-F5344CB8AC3E}">
        <p14:creationId xmlns:p14="http://schemas.microsoft.com/office/powerpoint/2010/main" val="36627997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p:cNvSpPr>
          <p:nvPr/>
        </p:nvSpPr>
        <p:spPr>
          <a:xfrm>
            <a:off x="1603332" y="1427967"/>
            <a:ext cx="7828767" cy="21294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6600" b="1" dirty="0">
                <a:latin typeface="Corbel" panose="020B0503020204020204" pitchFamily="34" charset="0"/>
                <a:ea typeface="Arial" charset="0"/>
                <a:cs typeface="Arial" charset="0"/>
              </a:rPr>
              <a:t>Thank you for listening </a:t>
            </a: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53800" y="77274"/>
            <a:ext cx="719178" cy="778132"/>
          </a:xfrm>
          <a:prstGeom prst="rect">
            <a:avLst/>
          </a:prstGeom>
        </p:spPr>
      </p:pic>
      <p:sp>
        <p:nvSpPr>
          <p:cNvPr id="4" name="Footer Placeholder 3"/>
          <p:cNvSpPr>
            <a:spLocks noGrp="1"/>
          </p:cNvSpPr>
          <p:nvPr>
            <p:ph type="ftr" sz="quarter" idx="11"/>
          </p:nvPr>
        </p:nvSpPr>
        <p:spPr/>
        <p:txBody>
          <a:bodyPr/>
          <a:lstStyle/>
          <a:p>
            <a:r>
              <a:rPr lang="en-US" dirty="0"/>
              <a:t>Department of Software Engineering -  Project ©2025</a:t>
            </a:r>
            <a:endParaRPr lang="en-GB" dirty="0"/>
          </a:p>
        </p:txBody>
      </p:sp>
      <p:sp>
        <p:nvSpPr>
          <p:cNvPr id="5" name="Slide Number Placeholder 4">
            <a:extLst>
              <a:ext uri="{FF2B5EF4-FFF2-40B4-BE49-F238E27FC236}">
                <a16:creationId xmlns:a16="http://schemas.microsoft.com/office/drawing/2014/main" id="{DACB4B0A-D17E-4CDB-A3CE-5970C97DEA10}"/>
              </a:ext>
            </a:extLst>
          </p:cNvPr>
          <p:cNvSpPr>
            <a:spLocks noGrp="1"/>
          </p:cNvSpPr>
          <p:nvPr>
            <p:ph type="sldNum" sz="quarter" idx="12"/>
          </p:nvPr>
        </p:nvSpPr>
        <p:spPr/>
        <p:txBody>
          <a:bodyPr/>
          <a:lstStyle/>
          <a:p>
            <a:fld id="{60CB7500-84E7-42C8-9A57-AC33187A24A8}" type="slidenum">
              <a:rPr lang="en-GB" smtClean="0"/>
              <a:t>12</a:t>
            </a:fld>
            <a:endParaRPr lang="en-GB"/>
          </a:p>
        </p:txBody>
      </p:sp>
      <p:pic>
        <p:nvPicPr>
          <p:cNvPr id="7" name="Picture 6" descr="A logo with green letters and a chip&#10;&#10;Description automatically generated">
            <a:extLst>
              <a:ext uri="{FF2B5EF4-FFF2-40B4-BE49-F238E27FC236}">
                <a16:creationId xmlns:a16="http://schemas.microsoft.com/office/drawing/2014/main" id="{A030377E-0F32-F427-E999-860F55DEB9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747" y="77274"/>
            <a:ext cx="1028700" cy="476250"/>
          </a:xfrm>
          <a:prstGeom prst="rect">
            <a:avLst/>
          </a:prstGeom>
        </p:spPr>
      </p:pic>
    </p:spTree>
    <p:extLst>
      <p:ext uri="{BB962C8B-B14F-4D97-AF65-F5344CB8AC3E}">
        <p14:creationId xmlns:p14="http://schemas.microsoft.com/office/powerpoint/2010/main" val="32210252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2105</TotalTime>
  <Words>237</Words>
  <Application>Microsoft Office PowerPoint</Application>
  <PresentationFormat>Widescreen</PresentationFormat>
  <Paragraphs>47</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Corbel</vt:lpstr>
      <vt:lpstr>Office Theme</vt:lpstr>
      <vt:lpstr>PowerPoint Presentation</vt:lpstr>
      <vt:lpstr>YOUR PROJECT TITLE HERE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CHECKLIST FOR PRESENTERS   cover slide: please provide us with your name, your department and your nationality. Do not change any of the logos or the layout of the cover slide and enter your information only in the placeholders provided using the same font/siz  first content slide: explain the particular cyber security challenge you want to solve as the problem domain.  second content slide: make sure to explain your proposed solution to combating cyber crime in Nigeria. Restrict your solution to a single point that can be developed further in a full blown research work.  Please keep in mind that you have 5min to make your presentation before the question and answer section will commence.</dc:title>
  <dc:creator>Amadi</dc:creator>
  <cp:lastModifiedBy>Charles Ikerionwu</cp:lastModifiedBy>
  <cp:revision>28</cp:revision>
  <cp:lastPrinted>2018-08-23T20:36:32Z</cp:lastPrinted>
  <dcterms:created xsi:type="dcterms:W3CDTF">2018-07-05T09:04:15Z</dcterms:created>
  <dcterms:modified xsi:type="dcterms:W3CDTF">2025-02-05T15:37:25Z</dcterms:modified>
</cp:coreProperties>
</file>