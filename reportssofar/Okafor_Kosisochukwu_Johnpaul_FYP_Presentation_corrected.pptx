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7" r:id="rId3"/>
    <p:sldId id="260" r:id="rId4"/>
    <p:sldId id="263" r:id="rId5"/>
    <p:sldId id="264" r:id="rId6"/>
    <p:sldId id="273" r:id="rId7"/>
    <p:sldId id="268" r:id="rId8"/>
    <p:sldId id="272" r:id="rId9"/>
    <p:sldId id="270" r:id="rId10"/>
    <p:sldId id="274" r:id="rId20"/>
    <p:sldId id="271" r:id="rId11"/>
    <p:sldId id="261" r:id="rId12"/>
    <p:sldId id="269" r:id="rId13"/>
  </p:sldIdLst>
  <p:sldSz cx="12192000" cy="6858000"/>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5" d="100"/>
          <a:sy n="65" d="100"/>
        </p:scale>
        <p:origin x="85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E9A30BF6-7621-430F-BF1D-D19D812B588C}" type="datetimeFigureOut">
              <a:rPr lang="en-GB" smtClean="0"/>
              <a:t>05/02/2025</a:t>
            </a:fld>
            <a:endParaRPr lang="en-GB"/>
          </a:p>
        </p:txBody>
      </p:sp>
      <p:sp>
        <p:nvSpPr>
          <p:cNvPr id="4" name="Footer Placeholder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4ED5777D-0745-4AE3-89C2-273EE7161840}" type="slidenum">
              <a:rPr lang="en-GB" smtClean="0"/>
              <a:t>‹#›</a:t>
            </a:fld>
            <a:endParaRPr lang="en-GB"/>
          </a:p>
        </p:txBody>
      </p:sp>
    </p:spTree>
    <p:extLst>
      <p:ext uri="{BB962C8B-B14F-4D97-AF65-F5344CB8AC3E}">
        <p14:creationId xmlns:p14="http://schemas.microsoft.com/office/powerpoint/2010/main" val="182067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4958" cy="49576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1098" y="1"/>
            <a:ext cx="2944958" cy="495765"/>
          </a:xfrm>
          <a:prstGeom prst="rect">
            <a:avLst/>
          </a:prstGeom>
        </p:spPr>
        <p:txBody>
          <a:bodyPr vert="horz" lIns="91440" tIns="45720" rIns="91440" bIns="45720" rtlCol="0"/>
          <a:lstStyle>
            <a:lvl1pPr algn="r">
              <a:defRPr sz="1200"/>
            </a:lvl1pPr>
          </a:lstStyle>
          <a:p>
            <a:fld id="{819D3626-7678-463A-B931-DA160CFBCF66}" type="datetimeFigureOut">
              <a:rPr lang="en-GB" smtClean="0"/>
              <a:t>05/02/2025</a:t>
            </a:fld>
            <a:endParaRPr lang="en-GB"/>
          </a:p>
        </p:txBody>
      </p:sp>
      <p:sp>
        <p:nvSpPr>
          <p:cNvPr id="4" name="Slide Image Placeholder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606" y="4752398"/>
            <a:ext cx="5438464" cy="388717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78485"/>
            <a:ext cx="2944958" cy="49576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1098" y="9378485"/>
            <a:ext cx="2944958" cy="495765"/>
          </a:xfrm>
          <a:prstGeom prst="rect">
            <a:avLst/>
          </a:prstGeom>
        </p:spPr>
        <p:txBody>
          <a:bodyPr vert="horz" lIns="91440" tIns="45720" rIns="91440" bIns="45720" rtlCol="0" anchor="b"/>
          <a:lstStyle>
            <a:lvl1pPr algn="r">
              <a:defRPr sz="1200"/>
            </a:lvl1pPr>
          </a:lstStyle>
          <a:p>
            <a:fld id="{E7FBE6E5-A34C-44AB-8866-F8A3F4B85DD6}" type="slidenum">
              <a:rPr lang="en-GB" smtClean="0"/>
              <a:t>‹#›</a:t>
            </a:fld>
            <a:endParaRPr lang="en-GB"/>
          </a:p>
        </p:txBody>
      </p:sp>
    </p:spTree>
    <p:extLst>
      <p:ext uri="{BB962C8B-B14F-4D97-AF65-F5344CB8AC3E}">
        <p14:creationId xmlns:p14="http://schemas.microsoft.com/office/powerpoint/2010/main" val="3049203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1CEFE56-E409-4611-84B6-78D55979C5E7}" type="datetime1">
              <a:rPr lang="en-GB" smtClean="0"/>
              <a:t>05/02/2025</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15612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5301482-A7F7-44F1-A175-734AED33DA15}" type="datetime1">
              <a:rPr lang="en-GB" smtClean="0"/>
              <a:t>05/02/2025</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403474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66DF6F9-F195-40B3-A65B-F390EA6476BF}" type="datetime1">
              <a:rPr lang="en-GB" smtClean="0"/>
              <a:t>05/02/2025</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969365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63BBE8F-6F0A-4687-85B5-47336FB8B589}" type="datetime1">
              <a:rPr lang="en-GB" smtClean="0"/>
              <a:t>05/02/2025</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610307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9F2696A-03E5-48AD-BD16-61940EDEE003}" type="datetime1">
              <a:rPr lang="en-GB" smtClean="0"/>
              <a:t>05/02/2025</a:t>
            </a:fld>
            <a:endParaRPr lang="en-GB"/>
          </a:p>
        </p:txBody>
      </p:sp>
      <p:sp>
        <p:nvSpPr>
          <p:cNvPr id="8" name="Footer Placeholder 7"/>
          <p:cNvSpPr>
            <a:spLocks noGrp="1"/>
          </p:cNvSpPr>
          <p:nvPr>
            <p:ph type="ftr" sz="quarter" idx="11"/>
          </p:nvPr>
        </p:nvSpPr>
        <p:spPr/>
        <p:txBody>
          <a:bodyPr/>
          <a:lstStyle/>
          <a:p>
            <a:r>
              <a:rPr lang="en-US"/>
              <a:t>Information Technology Department / Seminar Presentation 2021</a:t>
            </a:r>
            <a:endParaRPr lang="en-GB"/>
          </a:p>
        </p:txBody>
      </p:sp>
      <p:sp>
        <p:nvSpPr>
          <p:cNvPr id="9" name="Slide Number Placeholder 8"/>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729004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FF28B43-AD91-4B0A-B352-8AD5E6AB1017}" type="datetime1">
              <a:rPr lang="en-GB" smtClean="0"/>
              <a:t>05/02/2025</a:t>
            </a:fld>
            <a:endParaRPr lang="en-GB"/>
          </a:p>
        </p:txBody>
      </p:sp>
      <p:sp>
        <p:nvSpPr>
          <p:cNvPr id="4" name="Footer Placeholder 3"/>
          <p:cNvSpPr>
            <a:spLocks noGrp="1"/>
          </p:cNvSpPr>
          <p:nvPr>
            <p:ph type="ftr" sz="quarter" idx="11"/>
          </p:nvPr>
        </p:nvSpPr>
        <p:spPr/>
        <p:txBody>
          <a:bodyPr/>
          <a:lstStyle/>
          <a:p>
            <a:r>
              <a:rPr lang="en-US"/>
              <a:t>Information Technology Department / Seminar Presentation 2021</a:t>
            </a:r>
            <a:endParaRPr lang="en-GB"/>
          </a:p>
        </p:txBody>
      </p:sp>
      <p:sp>
        <p:nvSpPr>
          <p:cNvPr id="5" name="Slide Number Placeholder 4"/>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546299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D69C94-1FC0-41EC-9C0A-AB52040020ED}" type="datetime1">
              <a:rPr lang="en-GB" smtClean="0"/>
              <a:t>05/02/2025</a:t>
            </a:fld>
            <a:endParaRPr lang="en-GB"/>
          </a:p>
        </p:txBody>
      </p:sp>
      <p:sp>
        <p:nvSpPr>
          <p:cNvPr id="3" name="Footer Placeholder 2"/>
          <p:cNvSpPr>
            <a:spLocks noGrp="1"/>
          </p:cNvSpPr>
          <p:nvPr>
            <p:ph type="ftr" sz="quarter" idx="11"/>
          </p:nvPr>
        </p:nvSpPr>
        <p:spPr/>
        <p:txBody>
          <a:bodyPr/>
          <a:lstStyle/>
          <a:p>
            <a:r>
              <a:rPr lang="en-US"/>
              <a:t>Information Technology Department / Seminar Presentation 2021</a:t>
            </a:r>
            <a:endParaRPr lang="en-GB"/>
          </a:p>
        </p:txBody>
      </p:sp>
      <p:sp>
        <p:nvSpPr>
          <p:cNvPr id="4" name="Slide Number Placeholder 3"/>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673617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3F9D360-BA16-419B-BDF3-CE0285C51E50}" type="datetime1">
              <a:rPr lang="en-GB" smtClean="0"/>
              <a:t>05/02/2025</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2319867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A346B3-4381-474C-9C47-DF3F7EFD488B}" type="datetime1">
              <a:rPr lang="en-GB" smtClean="0"/>
              <a:t>05/02/2025</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153821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0579F78-A794-45F8-B8CE-795CE3B27278}" type="datetime1">
              <a:rPr lang="en-GB" smtClean="0"/>
              <a:t>05/02/2025</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726184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5349D5E-91C7-4E4C-AF67-67C7E168A5A4}" type="datetime1">
              <a:rPr lang="en-GB" smtClean="0"/>
              <a:t>05/02/2025</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8801697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A14E86-C9A5-4B56-BCDB-225823666A33}" type="datetime1">
              <a:rPr lang="en-GB" smtClean="0"/>
              <a:t>05/02/2025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Information Technology Department / Seminar Presentation 2021</a:t>
            </a: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CB7500-84E7-42C8-9A57-AC33187A24A8}" type="slidenum">
              <a:rPr lang="en-GB" smtClean="0"/>
              <a:t>‹#›</a:t>
            </a:fld>
            <a:endParaRPr lang="en-GB"/>
          </a:p>
        </p:txBody>
      </p:sp>
    </p:spTree>
    <p:extLst>
      <p:ext uri="{BB962C8B-B14F-4D97-AF65-F5344CB8AC3E}">
        <p14:creationId xmlns:p14="http://schemas.microsoft.com/office/powerpoint/2010/main" val="149582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2.jp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jp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097280"/>
            <a:ext cx="9966960" cy="1554480"/>
          </a:xfrm>
        </p:spPr>
        <p:txBody>
          <a:bodyPr>
            <a:normAutofit/>
          </a:bodyPr>
          <a:lstStyle/>
          <a:p>
            <a:pPr algn="ctr"/>
            <a:r>
              <a:rPr lang="en-GB" sz="3200" dirty="0">
                <a:latin typeface="Times New Roman" panose="020B0503020204020204" pitchFamily="34" charset="0"/>
                <a:cs typeface="Times New Roman" panose="020B0604020202020204" pitchFamily="34" charset="0"/>
                <a:ea typeface="Times New Roman"/>
              </a:rPr>
              <a:t>MULTI-AGENT REINFORCEMENT LEARNING FOR ADAPTIVE TCP CONGESTION CONTROL</a:t>
            </a:r>
          </a:p>
        </p:txBody>
      </p:sp>
      <p:sp>
        <p:nvSpPr>
          <p:cNvPr id="3" name="Content Placeholder 2"/>
          <p:cNvSpPr>
            <a:spLocks noGrp="1"/>
          </p:cNvSpPr>
          <p:nvPr>
            <p:ph idx="1"/>
          </p:nvPr>
        </p:nvSpPr>
        <p:spPr>
          <a:xfrm>
            <a:off x="1828800" y="3108960"/>
            <a:ext cx="8503920" cy="2377440"/>
          </a:xfrm>
        </p:spPr>
        <p:txBody>
          <a:bodyPr>
            <a:normAutofit/>
          </a:bodyPr>
          <a:lstStyle/>
          <a:p>
            <a:pPr marL="0" indent="0">
              <a:buNone/>
            </a:pPr>
            <a:r>
              <a:rPr lang="en-GB" sz="2800" dirty="0">
                <a:solidFill>
                  <a:srgbClr val="FF0000"/>
                </a:solidFill>
                <a:latin typeface="Times New Roman" panose="020B0503020204020204" pitchFamily="34" charset="0"/>
                <a:cs typeface="Times New Roman" panose="020B0604020202020204" pitchFamily="34" charset="0"/>
                <a:ea typeface="Times New Roman"/>
              </a:rPr>
              <a:t>OKAFOR KOSISOCHUKWU JOHNPAUL</a:t>
            </a:r>
          </a:p>
          <a:p>
            <a:pPr marL="0" indent="0">
              <a:buNone/>
            </a:pPr>
            <a:r>
              <a:rPr lang="en-GB" sz="2800" dirty="0">
                <a:solidFill>
                  <a:srgbClr val="FF0000"/>
                </a:solidFill>
                <a:latin typeface="Times New Roman" panose="020B0503020204020204" pitchFamily="34" charset="0"/>
                <a:cs typeface="Times New Roman" panose="020B0604020202020204" pitchFamily="34" charset="0"/>
                <a:ea typeface="Times New Roman"/>
              </a:rPr>
              <a:t>REG. NO.: 20211287502</a:t>
            </a:r>
          </a:p>
          <a:p>
            <a:pPr marL="0" indent="0">
              <a:buNone/>
            </a:pPr>
            <a:endParaRPr lang="en-GB" dirty="0">
              <a:solidFill>
                <a:srgbClr val="FF0000"/>
              </a:solidFill>
              <a:latin typeface="Corbel" panose="020B0503020204020204" pitchFamily="34" charset="0"/>
              <a:cs typeface="Arial" panose="020B0604020202020204" pitchFamily="34" charset="0"/>
            </a:endParaRPr>
          </a:p>
          <a:p>
            <a:pPr marL="0" indent="0">
              <a:buNone/>
            </a:pPr>
            <a:endParaRPr lang="en-GB" dirty="0">
              <a:solidFill>
                <a:srgbClr val="FF0000"/>
              </a:solidFill>
              <a:latin typeface="Corbel" panose="020B0503020204020204" pitchFamily="34" charset="0"/>
              <a:cs typeface="Arial" panose="020B0604020202020204" pitchFamily="34" charset="0"/>
            </a:endParaRPr>
          </a:p>
          <a:p>
            <a:pPr marL="0" indent="0">
              <a:buNone/>
            </a:pPr>
            <a:r>
              <a:rPr lang="en-GB" sz="2800" dirty="0">
                <a:solidFill>
                  <a:srgbClr val="0070C0"/>
                </a:solidFill>
                <a:latin typeface="Times New Roman" panose="020B0503020204020204" pitchFamily="34" charset="0"/>
                <a:cs typeface="Times New Roman" panose="020B0604020202020204" pitchFamily="34" charset="0"/>
                <a:ea typeface="Times New Roman"/>
              </a:rPr>
              <a:t>SUPERVISOR: DR. IKENNA CAESAR NWANDU</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48267" y="77274"/>
            <a:ext cx="683231" cy="739239"/>
          </a:xfrm>
          <a:prstGeom prst="rect">
            <a:avLst/>
          </a:prstGeom>
        </p:spPr>
      </p:pic>
      <p:sp>
        <p:nvSpPr>
          <p:cNvPr id="5" name="Footer Placeholder 4"/>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6" name="Slide Number Placeholder 5">
            <a:extLst>
              <a:ext uri="{FF2B5EF4-FFF2-40B4-BE49-F238E27FC236}">
                <a16:creationId xmlns:a16="http://schemas.microsoft.com/office/drawing/2014/main" id="{D5A1967E-D55A-4103-86BC-123CF935D49E}"/>
              </a:ext>
            </a:extLst>
          </p:cNvPr>
          <p:cNvSpPr>
            <a:spLocks noGrp="1"/>
          </p:cNvSpPr>
          <p:nvPr>
            <p:ph type="sldNum" sz="quarter" idx="12"/>
          </p:nvPr>
        </p:nvSpPr>
        <p:spPr/>
        <p:txBody>
          <a:bodyPr/>
          <a:lstStyle/>
          <a:p>
            <a:fld id="{60CB7500-84E7-42C8-9A57-AC33187A24A8}" type="slidenum">
              <a:rPr lang="en-GB" smtClean="0"/>
              <a:t>2</a:t>
            </a:fld>
            <a:endParaRPr lang="en-GB" dirty="0"/>
          </a:p>
        </p:txBody>
      </p:sp>
      <p:pic>
        <p:nvPicPr>
          <p:cNvPr id="8" name="Picture 7" descr="A logo with green letters and a chip&#10;&#10;Description automatically generated">
            <a:extLst>
              <a:ext uri="{FF2B5EF4-FFF2-40B4-BE49-F238E27FC236}">
                <a16:creationId xmlns:a16="http://schemas.microsoft.com/office/drawing/2014/main" id="{10E194A0-085F-F8A6-417A-90D9FB370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243" y="191759"/>
            <a:ext cx="1028700" cy="624754"/>
          </a:xfrm>
          <a:prstGeom prst="rect">
            <a:avLst/>
          </a:prstGeom>
        </p:spPr>
      </p:pic>
    </p:spTree>
    <p:extLst>
      <p:ext uri="{BB962C8B-B14F-4D97-AF65-F5344CB8AC3E}">
        <p14:creationId xmlns:p14="http://schemas.microsoft.com/office/powerpoint/2010/main" val="3813436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Times New Roman" panose="020B0604020202020204" pitchFamily="34" charset="0"/>
                <a:cs typeface="Times New Roman" panose="020B0604020202020204" pitchFamily="34" charset="0"/>
                <a:ea typeface="Times New Roman"/>
              </a:rPr>
              <a:t>INTRODUCTION</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75946" y="48783"/>
            <a:ext cx="828226" cy="896120"/>
          </a:xfrm>
          <a:prstGeom prst="rect">
            <a:avLst/>
          </a:prstGeom>
        </p:spPr>
      </p:pic>
      <p:sp>
        <p:nvSpPr>
          <p:cNvPr id="4" name="Footer Placeholder 3"/>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5" name="Slide Number Placeholder 4">
            <a:extLst>
              <a:ext uri="{FF2B5EF4-FFF2-40B4-BE49-F238E27FC236}">
                <a16:creationId xmlns:a16="http://schemas.microsoft.com/office/drawing/2014/main" id="{C9AC4450-3E97-41C5-A1D7-8A59B3719115}"/>
              </a:ext>
            </a:extLst>
          </p:cNvPr>
          <p:cNvSpPr>
            <a:spLocks noGrp="1"/>
          </p:cNvSpPr>
          <p:nvPr>
            <p:ph type="sldNum" sz="quarter" idx="12"/>
          </p:nvPr>
        </p:nvSpPr>
        <p:spPr/>
        <p:txBody>
          <a:bodyPr/>
          <a:lstStyle/>
          <a:p>
            <a:fld id="{60CB7500-84E7-42C8-9A57-AC33187A24A8}" type="slidenum">
              <a:rPr lang="en-GB" smtClean="0"/>
              <a:t>3</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1E3A0C06-B168-5029-B395-43CBED6961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202497"/>
            <a:ext cx="1028700" cy="476250"/>
          </a:xfrm>
          <a:prstGeom prst="rect">
            <a:avLst/>
          </a:prstGeom>
        </p:spPr>
      </p:pic>
      <p:sp>
        <p:nvSpPr>
          <p:cNvPr id="8" name="TextBox 7"/>
          <p:cNvSpPr txBox="1"/>
          <p:nvPr/>
        </p:nvSpPr>
        <p:spPr>
          <a:xfrm>
            <a:off x="640080" y="1417320"/>
            <a:ext cx="6035040" cy="4754880"/>
          </a:xfrm>
          <a:prstGeom prst="rect">
            <a:avLst/>
          </a:prstGeom>
          <a:noFill/>
        </p:spPr>
        <p:txBody>
          <a:bodyPr wrap="square" anchor="t" lIns="45720" rIns="45720" tIns="27432" bIns="27432">
            <a:spAutoFit/>
          </a:bodyPr>
          <a:lstStyle/>
          <a:p>
            <a:pPr marL="228600" indent="-228600">
              <a:spcAft>
                <a:spcPts val="1000"/>
              </a:spcAft>
              <a:buChar char="•"/>
            </a:pPr>
            <a:r>
              <a:rPr sz="1700" b="0" i="0">
                <a:solidFill>
                  <a:srgbClr val="000000"/>
                </a:solidFill>
                <a:latin typeface="Times New Roman"/>
                <a:ea typeface="Times New Roman"/>
                <a:cs typeface="Times New Roman"/>
              </a:rPr>
              <a:t>Data on the internet travels as small units called packets. </a:t>
            </a:r>
            <a:r>
              <a:rPr sz="1700" b="1" i="0">
                <a:solidFill>
                  <a:srgbClr val="000000"/>
                </a:solidFill>
                <a:latin typeface="Times New Roman"/>
                <a:ea typeface="Times New Roman"/>
                <a:cs typeface="Times New Roman"/>
              </a:rPr>
              <a:t>Transmission Control Protocol (TCP)</a:t>
            </a:r>
            <a:r>
              <a:rPr sz="1700" b="0" i="0">
                <a:solidFill>
                  <a:srgbClr val="000000"/>
                </a:solidFill>
                <a:latin typeface="Times New Roman"/>
                <a:ea typeface="Times New Roman"/>
                <a:cs typeface="Times New Roman"/>
              </a:rPr>
              <a:t> makes sure they arrive reliably.</a:t>
            </a:r>
          </a:p>
          <a:p>
            <a:pPr marL="228600" indent="-228600">
              <a:spcAft>
                <a:spcPts val="1000"/>
              </a:spcAft>
              <a:buChar char="•"/>
            </a:pPr>
            <a:r>
              <a:rPr sz="1700" b="0" i="0">
                <a:solidFill>
                  <a:srgbClr val="000000"/>
                </a:solidFill>
                <a:latin typeface="Times New Roman"/>
                <a:ea typeface="Times New Roman"/>
                <a:cs typeface="Times New Roman"/>
              </a:rPr>
              <a:t>A sender cannot see how full a router's memory buffer is. It infers congestion from packet loss and delay, and limits the data in transit with a value called the congestion window (CWND).</a:t>
            </a:r>
          </a:p>
          <a:p>
            <a:pPr marL="228600" indent="-228600">
              <a:spcAft>
                <a:spcPts val="1000"/>
              </a:spcAft>
              <a:buChar char="•"/>
            </a:pPr>
            <a:r>
              <a:rPr sz="1700" b="0" i="0">
                <a:solidFill>
                  <a:srgbClr val="000000"/>
                </a:solidFill>
                <a:latin typeface="Times New Roman"/>
                <a:ea typeface="Times New Roman"/>
                <a:cs typeface="Times New Roman"/>
              </a:rPr>
              <a:t>TCP Reno and TCP CUBIC follow fixed rules and treat packet loss as congestion. Bottleneck Bandwidth and Round-trip propagation time (BBR) instead builds a model of the network path.</a:t>
            </a:r>
          </a:p>
          <a:p>
            <a:pPr marL="228600" indent="-228600">
              <a:spcAft>
                <a:spcPts val="1000"/>
              </a:spcAft>
              <a:buChar char="•"/>
            </a:pPr>
            <a:r>
              <a:rPr sz="1700" b="1" i="0">
                <a:solidFill>
                  <a:srgbClr val="000000"/>
                </a:solidFill>
                <a:latin typeface="Times New Roman"/>
                <a:ea typeface="Times New Roman"/>
                <a:cs typeface="Times New Roman"/>
              </a:rPr>
              <a:t>Reinforcement Learning (RL)</a:t>
            </a:r>
            <a:r>
              <a:rPr sz="1700" b="0" i="0">
                <a:solidFill>
                  <a:srgbClr val="000000"/>
                </a:solidFill>
                <a:latin typeface="Times New Roman"/>
                <a:ea typeface="Times New Roman"/>
                <a:cs typeface="Times New Roman"/>
              </a:rPr>
              <a:t> lets a sender learn its own control policy from observations and reward feedback.</a:t>
            </a:r>
          </a:p>
          <a:p>
            <a:pPr marL="228600" indent="-228600">
              <a:spcAft>
                <a:spcPts val="1000"/>
              </a:spcAft>
              <a:buChar char="•"/>
            </a:pPr>
            <a:r>
              <a:rPr sz="1700" b="0" i="0">
                <a:solidFill>
                  <a:srgbClr val="000000"/>
                </a:solidFill>
                <a:latin typeface="Times New Roman"/>
                <a:ea typeface="Times New Roman"/>
                <a:cs typeface="Times New Roman"/>
              </a:rPr>
              <a:t>This project uses </a:t>
            </a:r>
            <a:r>
              <a:rPr sz="1700" b="1" i="0">
                <a:solidFill>
                  <a:srgbClr val="000000"/>
                </a:solidFill>
                <a:latin typeface="Times New Roman"/>
                <a:ea typeface="Times New Roman"/>
                <a:cs typeface="Times New Roman"/>
              </a:rPr>
              <a:t>Multi-Agent RL (MARL)</a:t>
            </a:r>
            <a:r>
              <a:rPr sz="1700" b="0" i="0">
                <a:solidFill>
                  <a:srgbClr val="000000"/>
                </a:solidFill>
                <a:latin typeface="Times New Roman"/>
                <a:ea typeface="Times New Roman"/>
                <a:cs typeface="Times New Roman"/>
              </a:rPr>
              <a:t>, where several senders learn together on one shared link.</a:t>
            </a:r>
          </a:p>
        </p:txBody>
      </p:sp>
      <p:pic>
        <p:nvPicPr>
          <p:cNvPr id="9" name="Picture 8" descr="Reinforcement learning control loop between the network environment and the agent"/>
          <p:cNvPicPr>
            <a:picLocks noChangeAspect="1"/>
          </p:cNvPicPr>
          <p:nvPr/>
        </p:nvPicPr>
        <p:blipFill>
          <a:blip r:embed="rId4"/>
          <a:stretch>
            <a:fillRect/>
          </a:stretch>
        </p:blipFill>
        <p:spPr>
          <a:xfrm>
            <a:off x="6949440" y="1828800"/>
            <a:ext cx="4617720" cy="2535379"/>
          </a:xfrm>
          <a:prstGeom prst="rect">
            <a:avLst/>
          </a:prstGeom>
        </p:spPr>
      </p:pic>
      <p:sp>
        <p:nvSpPr>
          <p:cNvPr id="10" name="TextBox 9"/>
          <p:cNvSpPr txBox="1"/>
          <p:nvPr/>
        </p:nvSpPr>
        <p:spPr>
          <a:xfrm>
            <a:off x="6949440" y="4343400"/>
            <a:ext cx="4617720" cy="274320"/>
          </a:xfrm>
          <a:prstGeom prst="rect">
            <a:avLst/>
          </a:prstGeom>
          <a:noFill/>
        </p:spPr>
        <p:txBody>
          <a:bodyPr wrap="square" anchor="t" lIns="45720" rIns="45720" tIns="27432" bIns="27432">
            <a:spAutoFit/>
          </a:bodyPr>
          <a:lstStyle/>
          <a:p>
            <a:pPr algn="l">
              <a:spcAft>
                <a:spcPts val="800"/>
              </a:spcAft>
            </a:pPr>
            <a:r>
              <a:rPr sz="1100" b="0" i="0">
                <a:solidFill>
                  <a:srgbClr val="404040"/>
                </a:solidFill>
                <a:latin typeface="Times New Roman"/>
                <a:ea typeface="Times New Roman"/>
                <a:cs typeface="Times New Roman"/>
              </a:rPr>
              <a:t>Figure 1.1: The RL control cycle for congestion control.</a:t>
            </a:r>
          </a:p>
        </p:txBody>
      </p:sp>
    </p:spTree>
    <p:extLst>
      <p:ext uri="{BB962C8B-B14F-4D97-AF65-F5344CB8AC3E}">
        <p14:creationId xmlns:p14="http://schemas.microsoft.com/office/powerpoint/2010/main" val="3162979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Times New Roman" panose="020B0503020204020204" pitchFamily="34" charset="0"/>
                <a:cs typeface="Times New Roman" panose="020B0604020202020204" pitchFamily="34" charset="0"/>
                <a:ea typeface="Times New Roman"/>
              </a:rPr>
              <a:t>PROBLEM STATEMENT</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81968" y="77275"/>
            <a:ext cx="657803" cy="711726"/>
          </a:xfrm>
          <a:prstGeom prst="rect">
            <a:avLst/>
          </a:prstGeom>
        </p:spPr>
      </p:pic>
      <p:sp>
        <p:nvSpPr>
          <p:cNvPr id="4" name="Footer Placeholder 3"/>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5" name="Slide Number Placeholder 4">
            <a:extLst>
              <a:ext uri="{FF2B5EF4-FFF2-40B4-BE49-F238E27FC236}">
                <a16:creationId xmlns:a16="http://schemas.microsoft.com/office/drawing/2014/main" id="{286CECEC-CB3B-4765-9B37-346AE47686A2}"/>
              </a:ext>
            </a:extLst>
          </p:cNvPr>
          <p:cNvSpPr>
            <a:spLocks noGrp="1"/>
          </p:cNvSpPr>
          <p:nvPr>
            <p:ph type="sldNum" sz="quarter" idx="12"/>
          </p:nvPr>
        </p:nvSpPr>
        <p:spPr/>
        <p:txBody>
          <a:bodyPr/>
          <a:lstStyle/>
          <a:p>
            <a:fld id="{60CB7500-84E7-42C8-9A57-AC33187A24A8}" type="slidenum">
              <a:rPr lang="en-GB" smtClean="0"/>
              <a:t>4</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3FE0C3BD-484F-C505-169C-C95D682AE6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77273"/>
            <a:ext cx="1028700" cy="511767"/>
          </a:xfrm>
          <a:prstGeom prst="rect">
            <a:avLst/>
          </a:prstGeom>
        </p:spPr>
      </p:pic>
      <p:sp>
        <p:nvSpPr>
          <p:cNvPr id="8" name="Rectangle 7"/>
          <p:cNvSpPr/>
          <p:nvPr/>
        </p:nvSpPr>
        <p:spPr>
          <a:xfrm>
            <a:off x="640080" y="1417320"/>
            <a:ext cx="5318607"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Loss-based algorithms (Reno, CUBIC)</a:t>
            </a:r>
          </a:p>
          <a:p>
            <a:pPr algn="l">
              <a:spcAft>
                <a:spcPts val="300"/>
              </a:spcAft>
            </a:pPr>
            <a:r>
              <a:rPr sz="1700" b="0" i="0">
                <a:solidFill>
                  <a:srgbClr val="000000"/>
                </a:solidFill>
                <a:latin typeface="Times New Roman"/>
                <a:ea typeface="Times New Roman"/>
                <a:cs typeface="Times New Roman"/>
              </a:rPr>
              <a:t>They assume every packet drop means a router queue overflowed. On wireless links, signal interference also drops packets, so these algorithms cut the CWND when they should not. The link is then underused.</a:t>
            </a:r>
          </a:p>
        </p:txBody>
      </p:sp>
      <p:sp>
        <p:nvSpPr>
          <p:cNvPr id="9" name="Rectangle 8"/>
          <p:cNvSpPr/>
          <p:nvPr/>
        </p:nvSpPr>
        <p:spPr>
          <a:xfrm>
            <a:off x="6233007" y="1417320"/>
            <a:ext cx="5318607"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Model-based algorithm (BBR)</a:t>
            </a:r>
          </a:p>
          <a:p>
            <a:pPr algn="l">
              <a:spcAft>
                <a:spcPts val="300"/>
              </a:spcAft>
            </a:pPr>
            <a:r>
              <a:rPr sz="1700" b="0" i="0">
                <a:solidFill>
                  <a:srgbClr val="000000"/>
                </a:solidFill>
                <a:latin typeface="Times New Roman"/>
                <a:ea typeface="Times New Roman"/>
                <a:cs typeface="Times New Roman"/>
              </a:rPr>
              <a:t>BBR does not cut its rate when loss occurs. On a link shared with loss-based flows, it can starve them and split bandwidth unequally.</a:t>
            </a:r>
          </a:p>
        </p:txBody>
      </p:sp>
      <p:sp>
        <p:nvSpPr>
          <p:cNvPr id="10" name="Rectangle 9"/>
          <p:cNvSpPr/>
          <p:nvPr/>
        </p:nvSpPr>
        <p:spPr>
          <a:xfrm>
            <a:off x="640080" y="3886200"/>
            <a:ext cx="5318607"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Single-agent RL</a:t>
            </a:r>
          </a:p>
          <a:p>
            <a:pPr algn="l">
              <a:spcAft>
                <a:spcPts val="300"/>
              </a:spcAft>
            </a:pPr>
            <a:r>
              <a:rPr sz="1700" b="0" i="0">
                <a:solidFill>
                  <a:srgbClr val="000000"/>
                </a:solidFill>
                <a:latin typeface="Times New Roman"/>
                <a:ea typeface="Times New Roman"/>
                <a:cs typeface="Times New Roman"/>
              </a:rPr>
              <a:t>Most existing RL work uses one agent, which treats other flows as random noise. In competition it can take a disproportionate share of buffer space and starve other flows.</a:t>
            </a:r>
          </a:p>
        </p:txBody>
      </p:sp>
      <p:sp>
        <p:nvSpPr>
          <p:cNvPr id="11" name="Rectangle 10"/>
          <p:cNvSpPr/>
          <p:nvPr/>
        </p:nvSpPr>
        <p:spPr>
          <a:xfrm>
            <a:off x="6233007" y="3886200"/>
            <a:ext cx="5318607" cy="2194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Standards requirement</a:t>
            </a:r>
          </a:p>
          <a:p>
            <a:pPr algn="l">
              <a:spcAft>
                <a:spcPts val="300"/>
              </a:spcAft>
            </a:pPr>
            <a:r>
              <a:rPr sz="1700" b="0" i="0">
                <a:solidFill>
                  <a:srgbClr val="000000"/>
                </a:solidFill>
                <a:latin typeface="Times New Roman"/>
                <a:ea typeface="Times New Roman"/>
                <a:cs typeface="Times New Roman"/>
              </a:rPr>
              <a:t>The Internet Engineering Task Force (IETF) requires in RFC 9743 that a new algorithm coexists safely and shares capacity fairly. Single-agent RL does not address this, which motivates a multi-agent approach.</a:t>
            </a:r>
          </a:p>
        </p:txBody>
      </p:sp>
    </p:spTree>
    <p:extLst>
      <p:ext uri="{BB962C8B-B14F-4D97-AF65-F5344CB8AC3E}">
        <p14:creationId xmlns:p14="http://schemas.microsoft.com/office/powerpoint/2010/main" val="1033389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Times New Roman" panose="020B0503020204020204" pitchFamily="34" charset="0"/>
                <a:cs typeface="Times New Roman" panose="020B0604020202020204" pitchFamily="34" charset="0"/>
                <a:ea typeface="Times New Roman"/>
              </a:rPr>
              <a:t>MAIN OBJECTIVES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33355" y="67651"/>
            <a:ext cx="800964" cy="866623"/>
          </a:xfrm>
          <a:prstGeom prst="rect">
            <a:avLst/>
          </a:prstGeom>
        </p:spPr>
      </p:pic>
      <p:sp>
        <p:nvSpPr>
          <p:cNvPr id="4" name="Footer Placeholder 3"/>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5" name="Slide Number Placeholder 4">
            <a:extLst>
              <a:ext uri="{FF2B5EF4-FFF2-40B4-BE49-F238E27FC236}">
                <a16:creationId xmlns:a16="http://schemas.microsoft.com/office/drawing/2014/main" id="{6D95DEBF-0917-4EDA-A968-A1187456EEEC}"/>
              </a:ext>
            </a:extLst>
          </p:cNvPr>
          <p:cNvSpPr>
            <a:spLocks noGrp="1"/>
          </p:cNvSpPr>
          <p:nvPr>
            <p:ph type="sldNum" sz="quarter" idx="12"/>
          </p:nvPr>
        </p:nvSpPr>
        <p:spPr/>
        <p:txBody>
          <a:bodyPr/>
          <a:lstStyle/>
          <a:p>
            <a:fld id="{60CB7500-84E7-42C8-9A57-AC33187A24A8}" type="slidenum">
              <a:rPr lang="en-GB" smtClean="0"/>
              <a:t>5</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7FCA6E0F-0184-C480-34F3-1B4150D38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2791"/>
            <a:ext cx="1028700" cy="476250"/>
          </a:xfrm>
          <a:prstGeom prst="rect">
            <a:avLst/>
          </a:prstGeom>
        </p:spPr>
      </p:pic>
      <p:sp>
        <p:nvSpPr>
          <p:cNvPr id="8" name="Rectangle 7"/>
          <p:cNvSpPr/>
          <p:nvPr/>
        </p:nvSpPr>
        <p:spPr>
          <a:xfrm>
            <a:off x="640080" y="1417320"/>
            <a:ext cx="10911535" cy="2651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500"/>
              </a:spcAft>
            </a:pPr>
            <a:r>
              <a:rPr sz="1800" b="1" i="0">
                <a:solidFill>
                  <a:srgbClr val="000000"/>
                </a:solidFill>
                <a:latin typeface="Times New Roman"/>
                <a:ea typeface="Times New Roman"/>
                <a:cs typeface="Times New Roman"/>
              </a:rPr>
              <a:t>Main objective</a:t>
            </a:r>
          </a:p>
          <a:p>
            <a:pPr algn="l">
              <a:spcAft>
                <a:spcPts val="300"/>
              </a:spcAft>
            </a:pPr>
            <a:r>
              <a:rPr sz="2200" b="0" i="0">
                <a:solidFill>
                  <a:srgbClr val="000000"/>
                </a:solidFill>
                <a:latin typeface="Times New Roman"/>
                <a:ea typeface="Times New Roman"/>
                <a:cs typeface="Times New Roman"/>
              </a:rPr>
              <a:t>To design, implement, and evaluate a Multi-Agent Reinforcement Learning (MARL) framework for Transmission Control Protocol (TCP) congestion control that optimizes bandwidth utilization and reduces queueing delay, while keeping bandwidth fair among competing flows and staying within realistic computational limits.</a:t>
            </a:r>
          </a:p>
        </p:txBody>
      </p:sp>
      <p:sp>
        <p:nvSpPr>
          <p:cNvPr id="9" name="Rectangle 8"/>
          <p:cNvSpPr/>
          <p:nvPr/>
        </p:nvSpPr>
        <p:spPr>
          <a:xfrm>
            <a:off x="640080" y="4297680"/>
            <a:ext cx="3454298" cy="17373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Scope</a:t>
            </a:r>
          </a:p>
          <a:p>
            <a:pPr algn="l">
              <a:spcAft>
                <a:spcPts val="300"/>
              </a:spcAft>
            </a:pPr>
            <a:r>
              <a:rPr sz="1600" b="0" i="0">
                <a:solidFill>
                  <a:srgbClr val="000000"/>
                </a:solidFill>
                <a:latin typeface="Times New Roman"/>
                <a:ea typeface="Times New Roman"/>
                <a:cs typeface="Times New Roman"/>
              </a:rPr>
              <a:t>Simulation only, using Network Simulator 3 (ns-3). Training is done offline.</a:t>
            </a:r>
          </a:p>
        </p:txBody>
      </p:sp>
      <p:sp>
        <p:nvSpPr>
          <p:cNvPr id="10" name="Rectangle 9"/>
          <p:cNvSpPr/>
          <p:nvPr/>
        </p:nvSpPr>
        <p:spPr>
          <a:xfrm>
            <a:off x="4368698" y="4297680"/>
            <a:ext cx="3454298" cy="17373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Network setup</a:t>
            </a:r>
          </a:p>
          <a:p>
            <a:pPr algn="l">
              <a:spcAft>
                <a:spcPts val="300"/>
              </a:spcAft>
            </a:pPr>
            <a:r>
              <a:rPr sz="1600" b="0" i="0">
                <a:solidFill>
                  <a:srgbClr val="000000"/>
                </a:solidFill>
                <a:latin typeface="Times New Roman"/>
                <a:ea typeface="Times New Roman"/>
                <a:cs typeface="Times New Roman"/>
              </a:rPr>
              <a:t>Dumbbell topology with a 10 Mbps bottleneck link and 20 ms one-way delay.</a:t>
            </a:r>
          </a:p>
        </p:txBody>
      </p:sp>
      <p:sp>
        <p:nvSpPr>
          <p:cNvPr id="11" name="Rectangle 10"/>
          <p:cNvSpPr/>
          <p:nvPr/>
        </p:nvSpPr>
        <p:spPr>
          <a:xfrm>
            <a:off x="8097316" y="4297680"/>
            <a:ext cx="3454298" cy="17373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Out of scope</a:t>
            </a:r>
          </a:p>
          <a:p>
            <a:pPr algn="l">
              <a:spcAft>
                <a:spcPts val="300"/>
              </a:spcAft>
            </a:pPr>
            <a:r>
              <a:rPr sz="1600" b="0" i="0">
                <a:solidFill>
                  <a:srgbClr val="000000"/>
                </a:solidFill>
                <a:latin typeface="Times New Roman"/>
                <a:ea typeface="Times New Roman"/>
                <a:cs typeface="Times New Roman"/>
              </a:rPr>
              <a:t>Changes to the live Linux kernel and tests on real hardware or live internet links.</a:t>
            </a:r>
          </a:p>
        </p:txBody>
      </p:sp>
    </p:spTree>
    <p:extLst>
      <p:ext uri="{BB962C8B-B14F-4D97-AF65-F5344CB8AC3E}">
        <p14:creationId xmlns:p14="http://schemas.microsoft.com/office/powerpoint/2010/main" val="437069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235F5-2914-D425-F43E-2F6958DC5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920E3-81C3-05BC-5ABE-CD8473D0A04E}"/>
              </a:ext>
            </a:extLst>
          </p:cNvPr>
          <p:cNvSpPr txBox="1">
            <a:spLocks/>
          </p:cNvSpPr>
          <p:nvPr/>
        </p:nvSpPr>
        <p:spPr>
          <a:xfrm>
            <a:off x="1460091" y="233178"/>
            <a:ext cx="8700744"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Times New Roman" panose="020B0503020204020204" pitchFamily="34" charset="0"/>
                <a:cs typeface="Times New Roman" panose="020B0604020202020204" pitchFamily="34" charset="0"/>
                <a:ea typeface="Times New Roman"/>
              </a:rPr>
              <a:t>SPECIFIC OBJECTIVES </a:t>
            </a:r>
          </a:p>
        </p:txBody>
      </p:sp>
      <p:pic>
        <p:nvPicPr>
          <p:cNvPr id="3" name="Picture 2">
            <a:extLst>
              <a:ext uri="{FF2B5EF4-FFF2-40B4-BE49-F238E27FC236}">
                <a16:creationId xmlns:a16="http://schemas.microsoft.com/office/drawing/2014/main" id="{0841A8FA-946C-B1B9-5429-3953D51DBE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33355" y="67651"/>
            <a:ext cx="800964" cy="866623"/>
          </a:xfrm>
          <a:prstGeom prst="rect">
            <a:avLst/>
          </a:prstGeom>
        </p:spPr>
      </p:pic>
      <p:sp>
        <p:nvSpPr>
          <p:cNvPr id="4" name="Footer Placeholder 3">
            <a:extLst>
              <a:ext uri="{FF2B5EF4-FFF2-40B4-BE49-F238E27FC236}">
                <a16:creationId xmlns:a16="http://schemas.microsoft.com/office/drawing/2014/main" id="{BAF6EF7A-F7CA-6E9E-8B93-9C9DFE45FF02}"/>
              </a:ext>
            </a:extLst>
          </p:cNvPr>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5" name="Slide Number Placeholder 4">
            <a:extLst>
              <a:ext uri="{FF2B5EF4-FFF2-40B4-BE49-F238E27FC236}">
                <a16:creationId xmlns:a16="http://schemas.microsoft.com/office/drawing/2014/main" id="{6AAFD5B9-7353-29C7-2C54-89EBD60C607C}"/>
              </a:ext>
            </a:extLst>
          </p:cNvPr>
          <p:cNvSpPr>
            <a:spLocks noGrp="1"/>
          </p:cNvSpPr>
          <p:nvPr>
            <p:ph type="sldNum" sz="quarter" idx="12"/>
          </p:nvPr>
        </p:nvSpPr>
        <p:spPr/>
        <p:txBody>
          <a:bodyPr/>
          <a:lstStyle/>
          <a:p>
            <a:fld id="{60CB7500-84E7-42C8-9A57-AC33187A24A8}" type="slidenum">
              <a:rPr lang="en-GB" smtClean="0"/>
              <a:t>6</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C1FC5527-6598-C355-28E3-46106C355F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2791"/>
            <a:ext cx="1028700" cy="476250"/>
          </a:xfrm>
          <a:prstGeom prst="rect">
            <a:avLst/>
          </a:prstGeom>
        </p:spPr>
      </p:pic>
      <p:sp>
        <p:nvSpPr>
          <p:cNvPr id="8" name="Rectangle 7"/>
          <p:cNvSpPr/>
          <p:nvPr/>
        </p:nvSpPr>
        <p:spPr>
          <a:xfrm>
            <a:off x="640080" y="1417320"/>
            <a:ext cx="5318607"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1. Examine loss-based TCP</a:t>
            </a:r>
          </a:p>
          <a:p>
            <a:pPr algn="l">
              <a:spcAft>
                <a:spcPts val="300"/>
              </a:spcAft>
            </a:pPr>
            <a:r>
              <a:rPr sz="1500" b="0" i="0">
                <a:solidFill>
                  <a:srgbClr val="000000"/>
                </a:solidFill>
                <a:latin typeface="Times New Roman"/>
                <a:ea typeface="Times New Roman"/>
                <a:cs typeface="Times New Roman"/>
              </a:rPr>
              <a:t>Study TCP Reno and TCP CUBIC: how they work, their throughput limits, and bufferbloat (high delay from over-full router buffers).</a:t>
            </a:r>
          </a:p>
        </p:txBody>
      </p:sp>
      <p:sp>
        <p:nvSpPr>
          <p:cNvPr id="9" name="Rectangle 8"/>
          <p:cNvSpPr/>
          <p:nvPr/>
        </p:nvSpPr>
        <p:spPr>
          <a:xfrm>
            <a:off x="6233007" y="1417320"/>
            <a:ext cx="5318607"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2. Analyze BBR</a:t>
            </a:r>
          </a:p>
          <a:p>
            <a:pPr algn="l">
              <a:spcAft>
                <a:spcPts val="300"/>
              </a:spcAft>
            </a:pPr>
            <a:r>
              <a:rPr sz="1500" b="0" i="0">
                <a:solidFill>
                  <a:srgbClr val="000000"/>
                </a:solidFill>
                <a:latin typeface="Times New Roman"/>
                <a:ea typeface="Times New Roman"/>
                <a:cs typeface="Times New Roman"/>
              </a:rPr>
              <a:t>Identify BBR fairness problems and throughput loss when it competes with loss-based flows.</a:t>
            </a:r>
          </a:p>
        </p:txBody>
      </p:sp>
      <p:sp>
        <p:nvSpPr>
          <p:cNvPr id="10" name="Rectangle 9"/>
          <p:cNvSpPr/>
          <p:nvPr/>
        </p:nvSpPr>
        <p:spPr>
          <a:xfrm>
            <a:off x="640080" y="3063240"/>
            <a:ext cx="5318607"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3. Formulate the problem</a:t>
            </a:r>
          </a:p>
          <a:p>
            <a:pPr algn="l">
              <a:spcAft>
                <a:spcPts val="300"/>
              </a:spcAft>
            </a:pPr>
            <a:r>
              <a:rPr sz="1500" b="0" i="0">
                <a:solidFill>
                  <a:srgbClr val="000000"/>
                </a:solidFill>
                <a:latin typeface="Times New Roman"/>
                <a:ea typeface="Times New Roman"/>
                <a:cs typeface="Times New Roman"/>
              </a:rPr>
              <a:t>Express congestion control as a Markov Decision Process (MDP) with states, actions, and a cooperative reward.</a:t>
            </a:r>
          </a:p>
        </p:txBody>
      </p:sp>
      <p:sp>
        <p:nvSpPr>
          <p:cNvPr id="11" name="Rectangle 10"/>
          <p:cNvSpPr/>
          <p:nvPr/>
        </p:nvSpPr>
        <p:spPr>
          <a:xfrm>
            <a:off x="6233007" y="3063240"/>
            <a:ext cx="5318607"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4. Build a testbed</a:t>
            </a:r>
          </a:p>
          <a:p>
            <a:pPr algn="l">
              <a:spcAft>
                <a:spcPts val="300"/>
              </a:spcAft>
            </a:pPr>
            <a:r>
              <a:rPr sz="1500" b="0" i="0">
                <a:solidFill>
                  <a:srgbClr val="000000"/>
                </a:solidFill>
                <a:latin typeface="Times New Roman"/>
                <a:ea typeface="Times New Roman"/>
                <a:cs typeface="Times New Roman"/>
              </a:rPr>
              <a:t>Connect Network Simulator 3 (ns-3) to Python through the ns3-gym bridge and the OpenAI Gymnasium interface.</a:t>
            </a:r>
          </a:p>
        </p:txBody>
      </p:sp>
      <p:sp>
        <p:nvSpPr>
          <p:cNvPr id="12" name="Rectangle 11"/>
          <p:cNvSpPr/>
          <p:nvPr/>
        </p:nvSpPr>
        <p:spPr>
          <a:xfrm>
            <a:off x="640080" y="4709160"/>
            <a:ext cx="5318607"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5. Train a shared policy</a:t>
            </a:r>
          </a:p>
          <a:p>
            <a:pPr algn="l">
              <a:spcAft>
                <a:spcPts val="300"/>
              </a:spcAft>
            </a:pPr>
            <a:r>
              <a:rPr sz="1500" b="0" i="0">
                <a:solidFill>
                  <a:srgbClr val="000000"/>
                </a:solidFill>
                <a:latin typeface="Times New Roman"/>
                <a:ea typeface="Times New Roman"/>
                <a:cs typeface="Times New Roman"/>
              </a:rPr>
              <a:t>Use Proximal Policy Optimization (PPO) under Centralised Training with Decentralised Execution (CTDE).</a:t>
            </a:r>
          </a:p>
        </p:txBody>
      </p:sp>
      <p:sp>
        <p:nvSpPr>
          <p:cNvPr id="13" name="Rectangle 12"/>
          <p:cNvSpPr/>
          <p:nvPr/>
        </p:nvSpPr>
        <p:spPr>
          <a:xfrm>
            <a:off x="6233007" y="4709160"/>
            <a:ext cx="5318607"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6. Evaluate</a:t>
            </a:r>
          </a:p>
          <a:p>
            <a:pPr algn="l">
              <a:spcAft>
                <a:spcPts val="300"/>
              </a:spcAft>
            </a:pPr>
            <a:r>
              <a:rPr sz="1500" b="0" i="0">
                <a:solidFill>
                  <a:srgbClr val="000000"/>
                </a:solidFill>
                <a:latin typeface="Times New Roman"/>
                <a:ea typeface="Times New Roman"/>
                <a:cs typeface="Times New Roman"/>
              </a:rPr>
              <a:t>Compare the agent with Reno, CUBIC, and BBR on throughput, delay, loss ratio, and Jain's Fairness Index (RFC 9743 metrics).</a:t>
            </a:r>
          </a:p>
        </p:txBody>
      </p:sp>
    </p:spTree>
    <p:extLst>
      <p:ext uri="{BB962C8B-B14F-4D97-AF65-F5344CB8AC3E}">
        <p14:creationId xmlns:p14="http://schemas.microsoft.com/office/powerpoint/2010/main" val="3299026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Times New Roman" panose="020B0503020204020204" pitchFamily="34" charset="0"/>
                <a:cs typeface="Times New Roman" panose="020B0604020202020204" pitchFamily="34" charset="0"/>
                <a:ea typeface="Times New Roman"/>
              </a:rPr>
              <a:t>METHODOLOGY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p:cNvSpPr>
            <a:spLocks noGrp="1"/>
          </p:cNvSpPr>
          <p:nvPr>
            <p:ph type="ftr" sz="quarter" idx="11"/>
          </p:nvPr>
        </p:nvSpPr>
        <p:spPr/>
        <p:txBody>
          <a:bodyPr/>
          <a:lstStyle/>
          <a:p>
            <a:r>
              <a:rPr lang="en-US" dirty="0">
                <a:latin typeface="Times New Roman"/>
                <a:ea typeface="Times New Roman"/>
                <a:cs typeface="Times New Roman"/>
              </a:rPr>
              <a:t>Department of Software Engineering -  project©2025</a:t>
            </a:r>
            <a:endParaRPr lang="en-GB" dirty="0"/>
          </a:p>
        </p:txBody>
      </p:sp>
      <p:sp>
        <p:nvSpPr>
          <p:cNvPr id="5" name="Slide Number Placeholder 4">
            <a:extLst>
              <a:ext uri="{FF2B5EF4-FFF2-40B4-BE49-F238E27FC236}">
                <a16:creationId xmlns:a16="http://schemas.microsoft.com/office/drawing/2014/main" id="{4F013CF2-E240-49B7-AE34-B318D306B1CA}"/>
              </a:ext>
            </a:extLst>
          </p:cNvPr>
          <p:cNvSpPr>
            <a:spLocks noGrp="1"/>
          </p:cNvSpPr>
          <p:nvPr>
            <p:ph type="sldNum" sz="quarter" idx="12"/>
          </p:nvPr>
        </p:nvSpPr>
        <p:spPr/>
        <p:txBody>
          <a:bodyPr/>
          <a:lstStyle/>
          <a:p>
            <a:fld id="{60CB7500-84E7-42C8-9A57-AC33187A24A8}" type="slidenum">
              <a:rPr lang="en-GB" smtClean="0"/>
              <a:t>7</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0E94A5F8-459F-E0F5-B38B-C12C5C86BC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sp>
        <p:nvSpPr>
          <p:cNvPr id="8" name="TextBox 7"/>
          <p:cNvSpPr txBox="1"/>
          <p:nvPr/>
        </p:nvSpPr>
        <p:spPr>
          <a:xfrm>
            <a:off x="640080" y="1325880"/>
            <a:ext cx="10911535" cy="1554480"/>
          </a:xfrm>
          <a:prstGeom prst="rect">
            <a:avLst/>
          </a:prstGeom>
          <a:noFill/>
        </p:spPr>
        <p:txBody>
          <a:bodyPr wrap="square" anchor="t" lIns="45720" rIns="45720" tIns="27432" bIns="27432">
            <a:spAutoFit/>
          </a:bodyPr>
          <a:lstStyle/>
          <a:p>
            <a:pPr marL="228600" indent="-228600">
              <a:spcAft>
                <a:spcPts val="500"/>
              </a:spcAft>
              <a:buChar char="•"/>
            </a:pPr>
            <a:r>
              <a:rPr sz="1500" b="1" i="0">
                <a:solidFill>
                  <a:srgbClr val="000000"/>
                </a:solidFill>
                <a:latin typeface="Times New Roman"/>
                <a:ea typeface="Times New Roman"/>
                <a:cs typeface="Times New Roman"/>
              </a:rPr>
              <a:t>Simulation-based, offline training. </a:t>
            </a:r>
            <a:r>
              <a:rPr sz="1500" b="0" i="0">
                <a:solidFill>
                  <a:srgbClr val="000000"/>
                </a:solidFill>
                <a:latin typeface="Times New Roman"/>
                <a:ea typeface="Times New Roman"/>
                <a:cs typeface="Times New Roman"/>
              </a:rPr>
              <a:t>All work runs inside Network Simulator 3 (ns-3), a discrete-event simulator, so a learning agent can explore without risking a real network.</a:t>
            </a:r>
          </a:p>
          <a:p>
            <a:pPr marL="228600" indent="-228600">
              <a:spcAft>
                <a:spcPts val="500"/>
              </a:spcAft>
              <a:buChar char="•"/>
            </a:pPr>
            <a:r>
              <a:rPr sz="1500" b="1" i="0">
                <a:solidFill>
                  <a:srgbClr val="000000"/>
                </a:solidFill>
                <a:latin typeface="Times New Roman"/>
                <a:ea typeface="Times New Roman"/>
                <a:cs typeface="Times New Roman"/>
              </a:rPr>
              <a:t>Centralised Training with Decentralised Execution (CTDE). </a:t>
            </a:r>
            <a:r>
              <a:rPr sz="1500" b="0" i="0">
                <a:solidFill>
                  <a:srgbClr val="000000"/>
                </a:solidFill>
                <a:latin typeface="Times New Roman"/>
                <a:ea typeface="Times New Roman"/>
                <a:cs typeface="Times New Roman"/>
              </a:rPr>
              <a:t>During training, one process sees all flows and trains a single shared policy. After training the weights are frozen, and each sender applies the policy using only its own observations.</a:t>
            </a:r>
          </a:p>
        </p:txBody>
      </p:sp>
      <p:sp>
        <p:nvSpPr>
          <p:cNvPr id="9" name="TextBox 8"/>
          <p:cNvSpPr txBox="1"/>
          <p:nvPr/>
        </p:nvSpPr>
        <p:spPr>
          <a:xfrm>
            <a:off x="640080" y="2926080"/>
            <a:ext cx="10911535" cy="365760"/>
          </a:xfrm>
          <a:prstGeom prst="rect">
            <a:avLst/>
          </a:prstGeom>
          <a:noFill/>
        </p:spPr>
        <p:txBody>
          <a:bodyPr wrap="square" anchor="t" lIns="45720" rIns="45720" tIns="27432" bIns="27432">
            <a:spAutoFit/>
          </a:bodyPr>
          <a:lstStyle/>
          <a:p>
            <a:pPr>
              <a:spcAft>
                <a:spcPts val="0"/>
              </a:spcAft>
            </a:pPr>
            <a:r>
              <a:rPr sz="1500" b="1" i="0">
                <a:solidFill>
                  <a:srgbClr val="000000"/>
                </a:solidFill>
                <a:latin typeface="Times New Roman"/>
                <a:ea typeface="Times New Roman"/>
                <a:cs typeface="Times New Roman"/>
              </a:rPr>
              <a:t>The problem is framed as a Markov Decision Process (MDP): what the agent sees, what it does, and how it is scored.</a:t>
            </a:r>
          </a:p>
        </p:txBody>
      </p:sp>
      <p:sp>
        <p:nvSpPr>
          <p:cNvPr id="10" name="Rectangle 9"/>
          <p:cNvSpPr/>
          <p:nvPr/>
        </p:nvSpPr>
        <p:spPr>
          <a:xfrm>
            <a:off x="640080" y="3383280"/>
            <a:ext cx="3454298" cy="2788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State (what it sees)</a:t>
            </a:r>
          </a:p>
          <a:p>
            <a:pPr algn="l">
              <a:spcAft>
                <a:spcPts val="300"/>
              </a:spcAft>
            </a:pPr>
            <a:r>
              <a:rPr sz="1400" b="0" i="0">
                <a:solidFill>
                  <a:srgbClr val="000000"/>
                </a:solidFill>
                <a:latin typeface="Times New Roman"/>
                <a:ea typeface="Times New Roman"/>
                <a:cs typeface="Times New Roman"/>
              </a:rPr>
              <a:t>Four values per flow:</a:t>
            </a:r>
          </a:p>
          <a:p>
            <a:pPr algn="l">
              <a:spcAft>
                <a:spcPts val="300"/>
              </a:spcAft>
            </a:pPr>
            <a:r>
              <a:rPr sz="1400" b="0" i="0">
                <a:solidFill>
                  <a:srgbClr val="000000"/>
                </a:solidFill>
                <a:latin typeface="Times New Roman"/>
                <a:ea typeface="Times New Roman"/>
                <a:cs typeface="Times New Roman"/>
              </a:rPr>
              <a:t>1. Congestion window</a:t>
            </a:r>
          </a:p>
          <a:p>
            <a:pPr algn="l">
              <a:spcAft>
                <a:spcPts val="300"/>
              </a:spcAft>
            </a:pPr>
            <a:r>
              <a:rPr sz="1400" b="0" i="0">
                <a:solidFill>
                  <a:srgbClr val="000000"/>
                </a:solidFill>
                <a:latin typeface="Times New Roman"/>
                <a:ea typeface="Times New Roman"/>
                <a:cs typeface="Times New Roman"/>
              </a:rPr>
              <a:t>2. Smoothed round-trip time</a:t>
            </a:r>
          </a:p>
          <a:p>
            <a:pPr algn="l">
              <a:spcAft>
                <a:spcPts val="300"/>
              </a:spcAft>
            </a:pPr>
            <a:r>
              <a:rPr sz="1400" b="0" i="0">
                <a:solidFill>
                  <a:srgbClr val="000000"/>
                </a:solidFill>
                <a:latin typeface="Times New Roman"/>
                <a:ea typeface="Times New Roman"/>
                <a:cs typeface="Times New Roman"/>
              </a:rPr>
              <a:t>3. Packet loss count</a:t>
            </a:r>
          </a:p>
          <a:p>
            <a:pPr algn="l">
              <a:spcAft>
                <a:spcPts val="300"/>
              </a:spcAft>
            </a:pPr>
            <a:r>
              <a:rPr sz="1400" b="0" i="0">
                <a:solidFill>
                  <a:srgbClr val="000000"/>
                </a:solidFill>
                <a:latin typeface="Times New Roman"/>
                <a:ea typeface="Times New Roman"/>
                <a:cs typeface="Times New Roman"/>
              </a:rPr>
              <a:t>4. Throughput delivery rate</a:t>
            </a:r>
          </a:p>
          <a:p>
            <a:pPr algn="l">
              <a:spcAft>
                <a:spcPts val="300"/>
              </a:spcAft>
            </a:pPr>
            <a:r>
              <a:rPr sz="1400" b="0" i="0">
                <a:solidFill>
                  <a:srgbClr val="000000"/>
                </a:solidFill>
                <a:latin typeface="Times New Roman"/>
                <a:ea typeface="Times New Roman"/>
                <a:cs typeface="Times New Roman"/>
              </a:rPr>
              <a:t>Two flows give a vector of eight numbers, scaled to bounded ranges before reaching the neural network. The loss input is a placeholder; packet loss is measured after each run from FlowMonitor.</a:t>
            </a:r>
          </a:p>
        </p:txBody>
      </p:sp>
      <p:sp>
        <p:nvSpPr>
          <p:cNvPr id="11" name="Rectangle 10"/>
          <p:cNvSpPr/>
          <p:nvPr/>
        </p:nvSpPr>
        <p:spPr>
          <a:xfrm>
            <a:off x="4368698" y="3383280"/>
            <a:ext cx="3454298" cy="2788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Action (what it does)</a:t>
            </a:r>
          </a:p>
          <a:p>
            <a:pPr algn="l">
              <a:spcAft>
                <a:spcPts val="300"/>
              </a:spcAft>
            </a:pPr>
            <a:r>
              <a:rPr sz="1400" b="0" i="0">
                <a:solidFill>
                  <a:srgbClr val="000000"/>
                </a:solidFill>
                <a:latin typeface="Times New Roman"/>
                <a:ea typeface="Times New Roman"/>
                <a:cs typeface="Times New Roman"/>
              </a:rPr>
              <a:t>Each agent chooses one integer from 0 to 4, and the pair is sent as one joint value from 0 to 24, changing the window:</a:t>
            </a:r>
          </a:p>
          <a:p>
            <a:pPr algn="l">
              <a:spcAft>
                <a:spcPts val="300"/>
              </a:spcAft>
            </a:pPr>
            <a:r>
              <a:rPr sz="1400" b="0" i="0">
                <a:solidFill>
                  <a:srgbClr val="000000"/>
                </a:solidFill>
                <a:latin typeface="Times New Roman"/>
                <a:ea typeface="Times New Roman"/>
                <a:cs typeface="Times New Roman"/>
              </a:rPr>
              <a:t>0: keep the window</a:t>
            </a:r>
          </a:p>
          <a:p>
            <a:pPr algn="l">
              <a:spcAft>
                <a:spcPts val="300"/>
              </a:spcAft>
            </a:pPr>
            <a:r>
              <a:rPr sz="1400" b="0" i="0">
                <a:solidFill>
                  <a:srgbClr val="000000"/>
                </a:solidFill>
                <a:latin typeface="Times New Roman"/>
                <a:ea typeface="Times New Roman"/>
                <a:cs typeface="Times New Roman"/>
              </a:rPr>
              <a:t>1: increase by 10%</a:t>
            </a:r>
          </a:p>
          <a:p>
            <a:pPr algn="l">
              <a:spcAft>
                <a:spcPts val="300"/>
              </a:spcAft>
            </a:pPr>
            <a:r>
              <a:rPr sz="1400" b="0" i="0">
                <a:solidFill>
                  <a:srgbClr val="000000"/>
                </a:solidFill>
                <a:latin typeface="Times New Roman"/>
                <a:ea typeface="Times New Roman"/>
                <a:cs typeface="Times New Roman"/>
              </a:rPr>
              <a:t>2: decrease by 10%</a:t>
            </a:r>
          </a:p>
          <a:p>
            <a:pPr algn="l">
              <a:spcAft>
                <a:spcPts val="300"/>
              </a:spcAft>
            </a:pPr>
            <a:r>
              <a:rPr sz="1400" b="0" i="0">
                <a:solidFill>
                  <a:srgbClr val="000000"/>
                </a:solidFill>
                <a:latin typeface="Times New Roman"/>
                <a:ea typeface="Times New Roman"/>
                <a:cs typeface="Times New Roman"/>
              </a:rPr>
              <a:t>3: increase by 20%</a:t>
            </a:r>
          </a:p>
          <a:p>
            <a:pPr algn="l">
              <a:spcAft>
                <a:spcPts val="300"/>
              </a:spcAft>
            </a:pPr>
            <a:r>
              <a:rPr sz="1400" b="0" i="0">
                <a:solidFill>
                  <a:srgbClr val="000000"/>
                </a:solidFill>
                <a:latin typeface="Times New Roman"/>
                <a:ea typeface="Times New Roman"/>
                <a:cs typeface="Times New Roman"/>
              </a:rPr>
              <a:t>4: decrease by 20%</a:t>
            </a:r>
          </a:p>
        </p:txBody>
      </p:sp>
      <p:sp>
        <p:nvSpPr>
          <p:cNvPr id="12" name="Rectangle 11"/>
          <p:cNvSpPr/>
          <p:nvPr/>
        </p:nvSpPr>
        <p:spPr>
          <a:xfrm>
            <a:off x="8097316" y="3383280"/>
            <a:ext cx="3454298" cy="2788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700" b="1" i="0">
                <a:solidFill>
                  <a:srgbClr val="000000"/>
                </a:solidFill>
                <a:latin typeface="Times New Roman"/>
                <a:ea typeface="Times New Roman"/>
                <a:cs typeface="Times New Roman"/>
              </a:rPr>
              <a:t>Reward (how it is scored)</a:t>
            </a:r>
          </a:p>
          <a:p>
            <a:pPr algn="l">
              <a:spcAft>
                <a:spcPts val="300"/>
              </a:spcAft>
            </a:pPr>
            <a:r>
              <a:rPr sz="1400" b="0" i="0">
                <a:solidFill>
                  <a:srgbClr val="000000"/>
                </a:solidFill>
                <a:latin typeface="Times New Roman"/>
                <a:ea typeface="Times New Roman"/>
                <a:cs typeface="Times New Roman"/>
              </a:rPr>
              <a:t>Reward = 60 × min(total throughput / 10, 1) + 20 × Jain fairness − 0.3 × delay(ms) − 20 × loss − 0.0005 × window(bytes)</a:t>
            </a:r>
          </a:p>
          <a:p>
            <a:pPr algn="l">
              <a:spcAft>
                <a:spcPts val="300"/>
              </a:spcAft>
            </a:pPr>
            <a:r>
              <a:rPr sz="1400" b="0" i="0">
                <a:solidFill>
                  <a:srgbClr val="000000"/>
                </a:solidFill>
                <a:latin typeface="Times New Roman"/>
                <a:ea typeface="Times New Roman"/>
                <a:cs typeface="Times New Roman"/>
              </a:rPr>
              <a:t>Jain's Fairness Index is 1.0 when bandwidth is shared equally. The window charge stops both agents from filling the router queue without limit, and the delay penalty keeps the queue short.</a:t>
            </a:r>
          </a:p>
        </p:txBody>
      </p:sp>
    </p:spTree>
    <p:extLst>
      <p:ext uri="{BB962C8B-B14F-4D97-AF65-F5344CB8AC3E}">
        <p14:creationId xmlns:p14="http://schemas.microsoft.com/office/powerpoint/2010/main" val="3231002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002F6-F641-841A-40A0-D50F6BCA2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2502B-1E2A-DAFF-8019-565E75523D84}"/>
              </a:ext>
            </a:extLst>
          </p:cNvPr>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Times New Roman" panose="020B0503020204020204" pitchFamily="34" charset="0"/>
                <a:cs typeface="Times New Roman" panose="020B0604020202020204" pitchFamily="34" charset="0"/>
                <a:ea typeface="Times New Roman"/>
              </a:rPr>
              <a:t>DESIGN AND IMPLEMENTATION</a:t>
            </a:r>
          </a:p>
        </p:txBody>
      </p:sp>
      <p:pic>
        <p:nvPicPr>
          <p:cNvPr id="3" name="Picture 2">
            <a:extLst>
              <a:ext uri="{FF2B5EF4-FFF2-40B4-BE49-F238E27FC236}">
                <a16:creationId xmlns:a16="http://schemas.microsoft.com/office/drawing/2014/main" id="{056F7BB6-BA16-10A0-A275-0766C44B37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a:extLst>
              <a:ext uri="{FF2B5EF4-FFF2-40B4-BE49-F238E27FC236}">
                <a16:creationId xmlns:a16="http://schemas.microsoft.com/office/drawing/2014/main" id="{729A9F13-9321-D26A-8648-58EA10BD6C93}"/>
              </a:ext>
            </a:extLst>
          </p:cNvPr>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5" name="Slide Number Placeholder 4">
            <a:extLst>
              <a:ext uri="{FF2B5EF4-FFF2-40B4-BE49-F238E27FC236}">
                <a16:creationId xmlns:a16="http://schemas.microsoft.com/office/drawing/2014/main" id="{77E102E2-CCB3-03CE-1666-70F52982C7BC}"/>
              </a:ext>
            </a:extLst>
          </p:cNvPr>
          <p:cNvSpPr>
            <a:spLocks noGrp="1"/>
          </p:cNvSpPr>
          <p:nvPr>
            <p:ph type="sldNum" sz="quarter" idx="12"/>
          </p:nvPr>
        </p:nvSpPr>
        <p:spPr/>
        <p:txBody>
          <a:bodyPr/>
          <a:lstStyle/>
          <a:p>
            <a:fld id="{60CB7500-84E7-42C8-9A57-AC33187A24A8}" type="slidenum">
              <a:rPr lang="en-GB" smtClean="0"/>
              <a:t>8</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D7D8328C-A8DB-82F8-293E-B57B0DC2B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sp>
        <p:nvSpPr>
          <p:cNvPr id="9" name="TextBox 8"/>
          <p:cNvSpPr txBox="1"/>
          <p:nvPr/>
        </p:nvSpPr>
        <p:spPr>
          <a:xfrm>
            <a:off x="640080" y="4206240"/>
            <a:ext cx="4937760" cy="274320"/>
          </a:xfrm>
          <a:prstGeom prst="rect">
            <a:avLst/>
          </a:prstGeom>
          <a:noFill/>
        </p:spPr>
        <p:txBody>
          <a:bodyPr wrap="square" anchor="t" lIns="45720" rIns="45720" tIns="27432" bIns="27432">
            <a:spAutoFit/>
          </a:bodyPr>
          <a:lstStyle/>
          <a:p>
            <a:pPr algn="l">
              <a:spcAft>
                <a:spcPts val="800"/>
              </a:spcAft>
            </a:pPr>
            <a:r>
              <a:rPr sz="1100" b="0" i="0">
                <a:solidFill>
                  <a:srgbClr val="404040"/>
                </a:solidFill>
                <a:latin typeface="Times New Roman"/>
                <a:ea typeface="Times New Roman"/>
                <a:cs typeface="Times New Roman"/>
              </a:rPr>
              <a:t>Figure 3.1: Multi-agent simulation testbed.</a:t>
            </a:r>
          </a:p>
        </p:txBody>
      </p:sp>
      <p:sp>
        <p:nvSpPr>
          <p:cNvPr id="10" name="TextBox 9"/>
          <p:cNvSpPr txBox="1"/>
          <p:nvPr/>
        </p:nvSpPr>
        <p:spPr>
          <a:xfrm>
            <a:off x="5852160" y="1325880"/>
            <a:ext cx="5715000" cy="3108960"/>
          </a:xfrm>
          <a:prstGeom prst="rect">
            <a:avLst/>
          </a:prstGeom>
          <a:noFill/>
        </p:spPr>
        <p:txBody>
          <a:bodyPr wrap="square" anchor="t" lIns="45720" rIns="45720" tIns="27432" bIns="27432">
            <a:spAutoFit/>
          </a:bodyPr>
          <a:lstStyle/>
          <a:p>
            <a:pPr marL="228600" indent="-228600">
              <a:spcAft>
                <a:spcPts val="700"/>
              </a:spcAft>
              <a:buChar char="•"/>
            </a:pPr>
            <a:r>
              <a:rPr sz="1500" b="1" i="0">
                <a:solidFill>
                  <a:srgbClr val="000000"/>
                </a:solidFill>
                <a:latin typeface="Times New Roman"/>
                <a:ea typeface="Times New Roman"/>
                <a:cs typeface="Times New Roman"/>
              </a:rPr>
              <a:t>Network: </a:t>
            </a:r>
            <a:r>
              <a:rPr sz="1500" b="0" i="0">
                <a:solidFill>
                  <a:srgbClr val="000000"/>
                </a:solidFill>
                <a:latin typeface="Times New Roman"/>
                <a:ea typeface="Times New Roman"/>
                <a:cs typeface="Times New Roman"/>
              </a:rPr>
              <a:t>two senders share one bottleneck link of 10 Mbps with 20 ms one-way delay. The router uses a DropTail queue (drops new packets when full) holding 100 packets.</a:t>
            </a:r>
          </a:p>
          <a:p>
            <a:pPr marL="228600" indent="-228600">
              <a:spcAft>
                <a:spcPts val="700"/>
              </a:spcAft>
              <a:buChar char="•"/>
            </a:pPr>
            <a:r>
              <a:rPr sz="1500" b="1" i="0">
                <a:solidFill>
                  <a:srgbClr val="000000"/>
                </a:solidFill>
                <a:latin typeface="Times New Roman"/>
                <a:ea typeface="Times New Roman"/>
                <a:cs typeface="Times New Roman"/>
              </a:rPr>
              <a:t>Bridge: </a:t>
            </a:r>
            <a:r>
              <a:rPr sz="1500" b="0" i="0">
                <a:solidFill>
                  <a:srgbClr val="000000"/>
                </a:solidFill>
                <a:latin typeface="Times New Roman"/>
                <a:ea typeface="Times New Roman"/>
                <a:cs typeface="Times New Roman"/>
              </a:rPr>
              <a:t>ns3-gym exposes ns-3 to Python through Gymnasium. ZeroMQ carries messages and Protocol Buffers (a binary data format) packs them.</a:t>
            </a:r>
          </a:p>
          <a:p>
            <a:pPr marL="228600" indent="-228600">
              <a:spcAft>
                <a:spcPts val="700"/>
              </a:spcAft>
              <a:buChar char="•"/>
            </a:pPr>
            <a:r>
              <a:rPr sz="1500" b="1" i="0">
                <a:solidFill>
                  <a:srgbClr val="000000"/>
                </a:solidFill>
                <a:latin typeface="Times New Roman"/>
                <a:ea typeface="Times New Roman"/>
                <a:cs typeface="Times New Roman"/>
              </a:rPr>
              <a:t>Training: Stable-Baselines3, built on PyTorch, runs PPO with a shared policy. The delivered policy was warm-started by behaviour cloning from a reference controller and then refined with PPO. The agent chooses a new action every 100 ms.</a:t>
            </a:r>
            <a:r>
              <a:rPr sz="1500" b="0" i="0">
                <a:solidFill>
                  <a:srgbClr val="000000"/>
                </a:solidFill>
                <a:latin typeface="Times New Roman"/>
                <a:ea typeface="Times New Roman"/>
                <a:cs typeface="Times New Roman"/>
              </a:rPr>
              <a:t/>
            </a:r>
          </a:p>
        </p:txBody>
      </p:sp>
      <p:sp>
        <p:nvSpPr>
          <p:cNvPr id="11" name="TextBox 10"/>
          <p:cNvSpPr txBox="1"/>
          <p:nvPr/>
        </p:nvSpPr>
        <p:spPr>
          <a:xfrm>
            <a:off x="640080" y="4526280"/>
            <a:ext cx="10911535" cy="320040"/>
          </a:xfrm>
          <a:prstGeom prst="rect">
            <a:avLst/>
          </a:prstGeom>
          <a:noFill/>
        </p:spPr>
        <p:txBody>
          <a:bodyPr wrap="square" anchor="t" lIns="45720" rIns="45720" tIns="27432" bIns="27432">
            <a:spAutoFit/>
          </a:bodyPr>
          <a:lstStyle/>
          <a:p>
            <a:pPr>
              <a:spcAft>
                <a:spcPts val="0"/>
              </a:spcAft>
            </a:pPr>
            <a:r>
              <a:rPr sz="1500" b="1" i="0">
                <a:solidFill>
                  <a:srgbClr val="000000"/>
                </a:solidFill>
                <a:latin typeface="Times New Roman"/>
                <a:ea typeface="Times New Roman"/>
                <a:cs typeface="Times New Roman"/>
              </a:rPr>
              <a:t>Problems found and fixed during implementation</a:t>
            </a:r>
          </a:p>
        </p:txBody>
      </p:sp>
      <p:sp>
        <p:nvSpPr>
          <p:cNvPr id="12" name="Rectangle 11"/>
          <p:cNvSpPr/>
          <p:nvPr/>
        </p:nvSpPr>
        <p:spPr>
          <a:xfrm>
            <a:off x="640080" y="4892040"/>
            <a:ext cx="3454298" cy="13258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400" b="1" i="0">
                <a:solidFill>
                  <a:srgbClr val="000000"/>
                </a:solidFill>
                <a:latin typeface="Times New Roman"/>
                <a:ea typeface="Times New Roman"/>
                <a:cs typeface="Times New Roman"/>
              </a:rPr>
              <a:t>Throughput read as zero</a:t>
            </a:r>
          </a:p>
          <a:p>
            <a:pPr algn="l">
              <a:spcAft>
                <a:spcPts val="300"/>
              </a:spcAft>
            </a:pPr>
            <a:r>
              <a:rPr sz="1300" b="0" i="0">
                <a:solidFill>
                  <a:srgbClr val="000000"/>
                </a:solidFill>
                <a:latin typeface="Times New Roman"/>
                <a:ea typeface="Times New Roman"/>
                <a:cs typeface="Times New Roman"/>
              </a:rPr>
              <a:t>Throughput was summed from bytes in flight. It now reads delivered bytes from the receiver.</a:t>
            </a:r>
          </a:p>
        </p:txBody>
      </p:sp>
      <p:sp>
        <p:nvSpPr>
          <p:cNvPr id="13" name="Rectangle 12"/>
          <p:cNvSpPr/>
          <p:nvPr/>
        </p:nvSpPr>
        <p:spPr>
          <a:xfrm>
            <a:off x="4368698" y="4892040"/>
            <a:ext cx="3454298" cy="13258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400" b="1" i="0">
                <a:solidFill>
                  <a:srgbClr val="000000"/>
                </a:solidFill>
                <a:latin typeface="Times New Roman"/>
                <a:ea typeface="Times New Roman"/>
                <a:cs typeface="Times New Roman"/>
              </a:rPr>
              <a:t>Window set to 1100 bytes</a:t>
            </a:r>
          </a:p>
          <a:p>
            <a:pPr algn="l">
              <a:spcAft>
                <a:spcPts val="300"/>
              </a:spcAft>
            </a:pPr>
            <a:r>
              <a:rPr sz="1300" b="0" i="0">
                <a:solidFill>
                  <a:srgbClr val="000000"/>
                </a:solidFill>
                <a:latin typeface="Times New Roman"/>
                <a:ea typeface="Times New Roman"/>
                <a:cs typeface="Times New Roman"/>
              </a:rPr>
              <a:t>Actions set an absolute value. They now scale the current window by the chosen multiplier.</a:t>
            </a:r>
          </a:p>
        </p:txBody>
      </p:sp>
      <p:sp>
        <p:nvSpPr>
          <p:cNvPr id="14" name="Rectangle 13"/>
          <p:cNvSpPr/>
          <p:nvPr/>
        </p:nvSpPr>
        <p:spPr>
          <a:xfrm>
            <a:off x="8097316" y="4892040"/>
            <a:ext cx="3454298" cy="13258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400" b="1" i="0">
                <a:solidFill>
                  <a:srgbClr val="000000"/>
                </a:solidFill>
                <a:latin typeface="Times New Roman"/>
                <a:ea typeface="Times New Roman"/>
                <a:cs typeface="Times New Roman"/>
              </a:rPr>
              <a:t>Training crashed with NaN</a:t>
            </a:r>
          </a:p>
          <a:p>
            <a:pPr algn="l">
              <a:spcAft>
                <a:spcPts val="300"/>
              </a:spcAft>
            </a:pPr>
            <a:r>
              <a:rPr sz="1300" b="0" i="0">
                <a:solidFill>
                  <a:srgbClr val="000000"/>
                </a:solidFill>
                <a:latin typeface="Times New Roman"/>
                <a:ea typeface="Times New Roman"/>
                <a:cs typeface="Times New Roman"/>
              </a:rPr>
              <a:t>Unscaled inputs broke the training. A Python wrapper now normalizes them.</a:t>
            </a:r>
          </a:p>
        </p:txBody>
      </p:sp>
      <p:pic>
        <p:nvPicPr>
          <p:cNvPr id="15" name="Picture 14" descr="fig_architecture.png"/>
          <p:cNvPicPr>
            <a:picLocks noChangeAspect="1"/>
          </p:cNvPicPr>
          <p:nvPr/>
        </p:nvPicPr>
        <p:blipFill>
          <a:blip r:embed="rId5"/>
          <a:stretch>
            <a:fillRect/>
          </a:stretch>
        </p:blipFill>
        <p:spPr>
          <a:xfrm>
            <a:off x="640080" y="1371600"/>
            <a:ext cx="4937760" cy="2761478"/>
          </a:xfrm>
          <a:prstGeom prst="rect">
            <a:avLst/>
          </a:prstGeom>
        </p:spPr>
      </p:pic>
    </p:spTree>
    <p:extLst>
      <p:ext uri="{BB962C8B-B14F-4D97-AF65-F5344CB8AC3E}">
        <p14:creationId xmlns:p14="http://schemas.microsoft.com/office/powerpoint/2010/main" val="1605897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8511B-0785-38EC-AB60-02A4DD482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6B00B-A205-82BA-32E1-6307367D59B8}"/>
              </a:ext>
            </a:extLst>
          </p:cNvPr>
          <p:cNvSpPr txBox="1">
            <a:spLocks/>
          </p:cNvSpPr>
          <p:nvPr/>
        </p:nvSpPr>
        <p:spPr>
          <a:xfrm>
            <a:off x="2079522" y="284798"/>
            <a:ext cx="6531078" cy="600106"/>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Times New Roman" panose="020B0503020204020204" pitchFamily="34" charset="0"/>
                <a:cs typeface="Times New Roman" panose="020B0604020202020204" pitchFamily="34" charset="0"/>
                <a:ea typeface="Times New Roman"/>
              </a:rPr>
              <a:t>RESULTS/FINDINGS</a:t>
            </a:r>
          </a:p>
        </p:txBody>
      </p:sp>
      <p:pic>
        <p:nvPicPr>
          <p:cNvPr id="3" name="Picture 2">
            <a:extLst>
              <a:ext uri="{FF2B5EF4-FFF2-40B4-BE49-F238E27FC236}">
                <a16:creationId xmlns:a16="http://schemas.microsoft.com/office/drawing/2014/main" id="{1F6189DA-04A0-8E9E-D4EF-6F35A77548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a:extLst>
              <a:ext uri="{FF2B5EF4-FFF2-40B4-BE49-F238E27FC236}">
                <a16:creationId xmlns:a16="http://schemas.microsoft.com/office/drawing/2014/main" id="{B5F5735D-9617-933B-F12B-1EDE8B10981F}"/>
              </a:ext>
            </a:extLst>
          </p:cNvPr>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5" name="Slide Number Placeholder 4">
            <a:extLst>
              <a:ext uri="{FF2B5EF4-FFF2-40B4-BE49-F238E27FC236}">
                <a16:creationId xmlns:a16="http://schemas.microsoft.com/office/drawing/2014/main" id="{FEB7CF86-BB52-C69C-93F2-33287B9B7C37}"/>
              </a:ext>
            </a:extLst>
          </p:cNvPr>
          <p:cNvSpPr>
            <a:spLocks noGrp="1"/>
          </p:cNvSpPr>
          <p:nvPr>
            <p:ph type="sldNum" sz="quarter" idx="12"/>
          </p:nvPr>
        </p:nvSpPr>
        <p:spPr/>
        <p:txBody>
          <a:bodyPr/>
          <a:lstStyle/>
          <a:p>
            <a:fld id="{60CB7500-84E7-42C8-9A57-AC33187A24A8}" type="slidenum">
              <a:rPr lang="en-GB" smtClean="0"/>
              <a:t>9</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721F20B4-7508-85D4-03FC-6B3DF101F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sp>
        <p:nvSpPr>
          <p:cNvPr id="8" name="TextBox 7"/>
          <p:cNvSpPr txBox="1"/>
          <p:nvPr/>
        </p:nvSpPr>
        <p:spPr>
          <a:xfrm>
            <a:off x="640080" y="1371600"/>
            <a:ext cx="6583680" cy="320040"/>
          </a:xfrm>
          <a:prstGeom prst="rect">
            <a:avLst/>
          </a:prstGeom>
          <a:noFill/>
        </p:spPr>
        <p:txBody>
          <a:bodyPr wrap="square" anchor="t" lIns="45720" rIns="45720" tIns="27432" bIns="27432">
            <a:spAutoFit/>
          </a:bodyPr>
          <a:lstStyle/>
          <a:p>
            <a:pPr>
              <a:spcAft>
                <a:spcPts val="0"/>
              </a:spcAft>
            </a:pPr>
            <a:r>
              <a:rPr sz="1600" b="1" i="0">
                <a:solidFill>
                  <a:srgbClr val="000000"/>
                </a:solidFill>
                <a:latin typeface="Times New Roman"/>
                <a:ea typeface="Times New Roman"/>
                <a:cs typeface="Times New Roman"/>
              </a:rPr>
              <a:t>Two-agent evaluation, 60-second run (Table 4.1)</a:t>
            </a:r>
          </a:p>
        </p:txBody>
      </p:sp>
      <p:graphicFrame>
        <p:nvGraphicFramePr>
          <p:cNvPr id="9" name="Table 8"/>
          <p:cNvGraphicFramePr>
            <a:graphicFrameLocks noGrp="1"/>
          </p:cNvGraphicFramePr>
          <p:nvPr/>
        </p:nvGraphicFramePr>
        <p:xfrm>
          <a:off x="640080" y="1737360"/>
          <a:ext cx="6583680" cy="2194560"/>
        </p:xfrm>
        <a:graphic>
          <a:graphicData uri="http://schemas.openxmlformats.org/drawingml/2006/table">
            <a:tbl>
              <a:tblPr firstRow="0" bandRow="0"/>
              <a:tblGrid>
                <a:gridCol w="1828800"/>
                <a:gridCol w="1554480"/>
                <a:gridCol w="1554480"/>
                <a:gridCol w="1645920"/>
              </a:tblGrid>
              <a:tr h="438912">
                <a:tc>
                  <a:txBody>
                    <a:bodyPr/>
                    <a:lstStyle/>
                    <a:p>
                      <a:pPr algn="l"/>
                      <a:r>
                        <a:rPr sz="1600" b="1" i="0">
                          <a:solidFill>
                            <a:srgbClr val="000000"/>
                          </a:solidFill>
                          <a:latin typeface="Times New Roman"/>
                          <a:ea typeface="Times New Roman"/>
                          <a:cs typeface="Times New Roman"/>
                        </a:rPr>
                        <a:t>Metric</a:t>
                      </a:r>
                    </a:p>
                  </a:txBody>
                  <a:tcPr anchor="ctr">
                    <a:solidFill>
                      <a:srgbClr val="F2F2F2"/>
                    </a:solidFill>
                    <a:lnB w="9525">
                      <a:solidFill>
                        <a:srgbClr val="BFBFBF"/>
                      </a:solidFill>
                    </a:lnB>
                  </a:tcPr>
                </a:tc>
                <a:tc>
                  <a:txBody>
                    <a:bodyPr/>
                    <a:lstStyle/>
                    <a:p>
                      <a:pPr algn="ctr"/>
                      <a:r>
                        <a:rPr sz="1600" b="1" i="0">
                          <a:solidFill>
                            <a:srgbClr val="000000"/>
                          </a:solidFill>
                          <a:latin typeface="Times New Roman"/>
                          <a:ea typeface="Times New Roman"/>
                          <a:cs typeface="Times New Roman"/>
                        </a:rPr>
                        <a:t>Agent 1</a:t>
                      </a:r>
                    </a:p>
                  </a:txBody>
                  <a:tcPr anchor="ctr">
                    <a:solidFill>
                      <a:srgbClr val="F2F2F2"/>
                    </a:solidFill>
                    <a:lnB w="9525">
                      <a:solidFill>
                        <a:srgbClr val="BFBFBF"/>
                      </a:solidFill>
                    </a:lnB>
                  </a:tcPr>
                </a:tc>
                <a:tc>
                  <a:txBody>
                    <a:bodyPr/>
                    <a:lstStyle/>
                    <a:p>
                      <a:pPr algn="ctr"/>
                      <a:r>
                        <a:rPr sz="1600" b="1" i="0">
                          <a:solidFill>
                            <a:srgbClr val="000000"/>
                          </a:solidFill>
                          <a:latin typeface="Times New Roman"/>
                          <a:ea typeface="Times New Roman"/>
                          <a:cs typeface="Times New Roman"/>
                        </a:rPr>
                        <a:t>Agent 2</a:t>
                      </a:r>
                    </a:p>
                  </a:txBody>
                  <a:tcPr anchor="ctr">
                    <a:solidFill>
                      <a:srgbClr val="F2F2F2"/>
                    </a:solidFill>
                    <a:lnB w="9525">
                      <a:solidFill>
                        <a:srgbClr val="BFBFBF"/>
                      </a:solidFill>
                    </a:lnB>
                  </a:tcPr>
                </a:tc>
                <a:tc>
                  <a:txBody>
                    <a:bodyPr/>
                    <a:lstStyle/>
                    <a:p>
                      <a:pPr algn="ctr"/>
                      <a:r>
                        <a:rPr sz="1600" b="1" i="0">
                          <a:solidFill>
                            <a:srgbClr val="000000"/>
                          </a:solidFill>
                          <a:latin typeface="Times New Roman"/>
                          <a:ea typeface="Times New Roman"/>
                          <a:cs typeface="Times New Roman"/>
                        </a:rPr>
                        <a:t>Total / Average</a:t>
                      </a:r>
                    </a:p>
                  </a:txBody>
                  <a:tcPr anchor="ctr">
                    <a:solidFill>
                      <a:srgbClr val="F2F2F2"/>
                    </a:solidFill>
                    <a:lnB w="9525">
                      <a:solidFill>
                        <a:srgbClr val="BFBFBF"/>
                      </a:solidFill>
                    </a:lnB>
                  </a:tcPr>
                </a:tc>
              </a:tr>
              <a:tr h="438912">
                <a:tc>
                  <a:txBody>
                    <a:bodyPr/>
                    <a:lstStyle/>
                    <a:p>
                      <a:pPr algn="l"/>
                      <a:r>
                        <a:rPr sz="1600" b="1" i="0">
                          <a:solidFill>
                            <a:srgbClr val="000000"/>
                          </a:solidFill>
                          <a:latin typeface="Times New Roman"/>
                          <a:ea typeface="Times New Roman"/>
                          <a:cs typeface="Times New Roman"/>
                        </a:rPr>
                        <a:t>Throughput</a:t>
                      </a:r>
                    </a:p>
                  </a:txBody>
                  <a:tcPr anchor="ctr">
                    <a:solidFill>
                      <a:srgbClr val="FFFFFF"/>
                    </a:solidFill>
                    <a:lnB w="9525">
                      <a:solidFill>
                        <a:srgbClr val="BFBFBF"/>
                      </a:solidFill>
                    </a:lnB>
                  </a:tcPr>
                </a:tc>
                <a:tc>
                  <a:txBody>
                    <a:bodyPr/>
                    <a:lstStyle/>
                    <a:p>
                      <a:pPr algn="ctr"/>
                      <a:r>
                        <a:rPr sz="1600" b="0" i="0">
                          <a:solidFill>
                            <a:srgbClr val="000000"/>
                          </a:solidFill>
                          <a:latin typeface="Times New Roman"/>
                          <a:ea typeface="Times New Roman"/>
                          <a:cs typeface="Times New Roman"/>
                        </a:rPr>
                        <a:t>4348.2 kbps</a:t>
                      </a:r>
                    </a:p>
                  </a:txBody>
                  <a:tcPr anchor="ctr">
                    <a:solidFill>
                      <a:srgbClr val="FFFFFF"/>
                    </a:solidFill>
                    <a:lnB w="9525">
                      <a:solidFill>
                        <a:srgbClr val="BFBFBF"/>
                      </a:solidFill>
                    </a:lnB>
                  </a:tcPr>
                </a:tc>
                <a:tc>
                  <a:txBody>
                    <a:bodyPr/>
                    <a:lstStyle/>
                    <a:p>
                      <a:pPr algn="ctr"/>
                      <a:r>
                        <a:rPr sz="1600" b="0" i="0">
                          <a:solidFill>
                            <a:srgbClr val="000000"/>
                          </a:solidFill>
                          <a:latin typeface="Times New Roman"/>
                          <a:ea typeface="Times New Roman"/>
                          <a:cs typeface="Times New Roman"/>
                        </a:rPr>
                        <a:t>4348.2 kbps</a:t>
                      </a:r>
                    </a:p>
                  </a:txBody>
                  <a:tcPr anchor="ctr">
                    <a:solidFill>
                      <a:srgbClr val="FFFFFF"/>
                    </a:solidFill>
                    <a:lnB w="9525">
                      <a:solidFill>
                        <a:srgbClr val="BFBFBF"/>
                      </a:solidFill>
                    </a:lnB>
                  </a:tcPr>
                </a:tc>
                <a:tc>
                  <a:txBody>
                    <a:bodyPr/>
                    <a:lstStyle/>
                    <a:p>
                      <a:pPr algn="ctr"/>
                      <a:r>
                        <a:rPr sz="1600" b="1" i="0">
                          <a:solidFill>
                            <a:srgbClr val="000000"/>
                          </a:solidFill>
                          <a:latin typeface="Times New Roman"/>
                          <a:ea typeface="Times New Roman"/>
                          <a:cs typeface="Times New Roman"/>
                        </a:rPr>
                        <a:t>8696.3 kbps</a:t>
                      </a:r>
                    </a:p>
                  </a:txBody>
                  <a:tcPr anchor="ctr">
                    <a:solidFill>
                      <a:srgbClr val="FFFFFF"/>
                    </a:solidFill>
                    <a:lnB w="9525">
                      <a:solidFill>
                        <a:srgbClr val="BFBFBF"/>
                      </a:solidFill>
                    </a:lnB>
                  </a:tcPr>
                </a:tc>
              </a:tr>
              <a:tr h="438912">
                <a:tc>
                  <a:txBody>
                    <a:bodyPr/>
                    <a:lstStyle/>
                    <a:p>
                      <a:pPr algn="l"/>
                      <a:r>
                        <a:rPr sz="1600" b="1" i="0">
                          <a:solidFill>
                            <a:srgbClr val="000000"/>
                          </a:solidFill>
                          <a:latin typeface="Times New Roman"/>
                          <a:ea typeface="Times New Roman"/>
                          <a:cs typeface="Times New Roman"/>
                        </a:rPr>
                        <a:t>Delay</a:t>
                      </a:r>
                    </a:p>
                  </a:txBody>
                  <a:tcPr anchor="ctr">
                    <a:solidFill>
                      <a:srgbClr val="FFFFFF"/>
                    </a:solidFill>
                    <a:lnB w="9525">
                      <a:solidFill>
                        <a:srgbClr val="BFBFBF"/>
                      </a:solidFill>
                    </a:lnB>
                  </a:tcPr>
                </a:tc>
                <a:tc>
                  <a:txBody>
                    <a:bodyPr/>
                    <a:lstStyle/>
                    <a:p>
                      <a:pPr algn="ctr"/>
                      <a:r>
                        <a:rPr sz="1600" b="0" i="0">
                          <a:solidFill>
                            <a:srgbClr val="000000"/>
                          </a:solidFill>
                          <a:latin typeface="Times New Roman"/>
                          <a:ea typeface="Times New Roman"/>
                          <a:cs typeface="Times New Roman"/>
                        </a:rPr>
                        <a:t>22.81 ms</a:t>
                      </a:r>
                    </a:p>
                  </a:txBody>
                  <a:tcPr anchor="ctr">
                    <a:solidFill>
                      <a:srgbClr val="FFFFFF"/>
                    </a:solidFill>
                    <a:lnB w="9525">
                      <a:solidFill>
                        <a:srgbClr val="BFBFBF"/>
                      </a:solidFill>
                    </a:lnB>
                  </a:tcPr>
                </a:tc>
                <a:tc>
                  <a:txBody>
                    <a:bodyPr/>
                    <a:lstStyle/>
                    <a:p>
                      <a:pPr algn="ctr"/>
                      <a:r>
                        <a:rPr sz="1600" b="0" i="0">
                          <a:solidFill>
                            <a:srgbClr val="000000"/>
                          </a:solidFill>
                          <a:latin typeface="Times New Roman"/>
                          <a:ea typeface="Times New Roman"/>
                          <a:cs typeface="Times New Roman"/>
                        </a:rPr>
                        <a:t>22.80 ms</a:t>
                      </a:r>
                    </a:p>
                  </a:txBody>
                  <a:tcPr anchor="ctr">
                    <a:solidFill>
                      <a:srgbClr val="FFFFFF"/>
                    </a:solidFill>
                    <a:lnB w="9525">
                      <a:solidFill>
                        <a:srgbClr val="BFBFBF"/>
                      </a:solidFill>
                    </a:lnB>
                  </a:tcPr>
                </a:tc>
                <a:tc>
                  <a:txBody>
                    <a:bodyPr/>
                    <a:lstStyle/>
                    <a:p>
                      <a:pPr algn="ctr"/>
                      <a:r>
                        <a:rPr sz="1600" b="1" i="0">
                          <a:solidFill>
                            <a:srgbClr val="000000"/>
                          </a:solidFill>
                          <a:latin typeface="Times New Roman"/>
                          <a:ea typeface="Times New Roman"/>
                          <a:cs typeface="Times New Roman"/>
                        </a:rPr>
                        <a:t>22.80 ms</a:t>
                      </a:r>
                    </a:p>
                  </a:txBody>
                  <a:tcPr anchor="ctr">
                    <a:solidFill>
                      <a:srgbClr val="FFFFFF"/>
                    </a:solidFill>
                    <a:lnB w="9525">
                      <a:solidFill>
                        <a:srgbClr val="BFBFBF"/>
                      </a:solidFill>
                    </a:lnB>
                  </a:tcPr>
                </a:tc>
              </a:tr>
              <a:tr h="438912">
                <a:tc>
                  <a:txBody>
                    <a:bodyPr/>
                    <a:lstStyle/>
                    <a:p>
                      <a:pPr algn="l"/>
                      <a:r>
                        <a:rPr sz="1600" b="1" i="0">
                          <a:solidFill>
                            <a:srgbClr val="000000"/>
                          </a:solidFill>
                          <a:latin typeface="Times New Roman"/>
                          <a:ea typeface="Times New Roman"/>
                          <a:cs typeface="Times New Roman"/>
                        </a:rPr>
                        <a:t>Loss ratio</a:t>
                      </a:r>
                    </a:p>
                  </a:txBody>
                  <a:tcPr anchor="ctr">
                    <a:solidFill>
                      <a:srgbClr val="FFFFFF"/>
                    </a:solidFill>
                    <a:lnB w="9525">
                      <a:solidFill>
                        <a:srgbClr val="BFBFBF"/>
                      </a:solidFill>
                    </a:lnB>
                  </a:tcPr>
                </a:tc>
                <a:tc>
                  <a:txBody>
                    <a:bodyPr/>
                    <a:lstStyle/>
                    <a:p>
                      <a:pPr algn="ctr"/>
                      <a:r>
                        <a:rPr sz="1600" b="0" i="0">
                          <a:solidFill>
                            <a:srgbClr val="000000"/>
                          </a:solidFill>
                          <a:latin typeface="Times New Roman"/>
                          <a:ea typeface="Times New Roman"/>
                          <a:cs typeface="Times New Roman"/>
                        </a:rPr>
                        <a:t>0.00%</a:t>
                      </a:r>
                    </a:p>
                  </a:txBody>
                  <a:tcPr anchor="ctr">
                    <a:solidFill>
                      <a:srgbClr val="FFFFFF"/>
                    </a:solidFill>
                    <a:lnB w="9525">
                      <a:solidFill>
                        <a:srgbClr val="BFBFBF"/>
                      </a:solidFill>
                    </a:lnB>
                  </a:tcPr>
                </a:tc>
                <a:tc>
                  <a:txBody>
                    <a:bodyPr/>
                    <a:lstStyle/>
                    <a:p>
                      <a:pPr algn="ctr"/>
                      <a:r>
                        <a:rPr sz="1600" b="0" i="0">
                          <a:solidFill>
                            <a:srgbClr val="000000"/>
                          </a:solidFill>
                          <a:latin typeface="Times New Roman"/>
                          <a:ea typeface="Times New Roman"/>
                          <a:cs typeface="Times New Roman"/>
                        </a:rPr>
                        <a:t>0.00%</a:t>
                      </a:r>
                    </a:p>
                  </a:txBody>
                  <a:tcPr anchor="ctr">
                    <a:solidFill>
                      <a:srgbClr val="FFFFFF"/>
                    </a:solidFill>
                    <a:lnB w="9525">
                      <a:solidFill>
                        <a:srgbClr val="BFBFBF"/>
                      </a:solidFill>
                    </a:lnB>
                  </a:tcPr>
                </a:tc>
                <a:tc>
                  <a:txBody>
                    <a:bodyPr/>
                    <a:lstStyle/>
                    <a:p>
                      <a:pPr algn="ctr"/>
                      <a:r>
                        <a:rPr sz="1600" b="1" i="0">
                          <a:solidFill>
                            <a:srgbClr val="000000"/>
                          </a:solidFill>
                          <a:latin typeface="Times New Roman"/>
                          <a:ea typeface="Times New Roman"/>
                          <a:cs typeface="Times New Roman"/>
                        </a:rPr>
                        <a:t>0.000%</a:t>
                      </a:r>
                    </a:p>
                  </a:txBody>
                  <a:tcPr anchor="ctr">
                    <a:solidFill>
                      <a:srgbClr val="FFFFFF"/>
                    </a:solidFill>
                    <a:lnB w="9525">
                      <a:solidFill>
                        <a:srgbClr val="BFBFBF"/>
                      </a:solidFill>
                    </a:lnB>
                  </a:tcPr>
                </a:tc>
              </a:tr>
              <a:tr h="438912">
                <a:tc>
                  <a:txBody>
                    <a:bodyPr/>
                    <a:lstStyle/>
                    <a:p>
                      <a:pPr algn="l"/>
                      <a:r>
                        <a:rPr sz="1600" b="1" i="0">
                          <a:solidFill>
                            <a:srgbClr val="000000"/>
                          </a:solidFill>
                          <a:latin typeface="Times New Roman"/>
                          <a:ea typeface="Times New Roman"/>
                          <a:cs typeface="Times New Roman"/>
                        </a:rPr>
                        <a:t>Jain's Fairness</a:t>
                      </a:r>
                    </a:p>
                  </a:txBody>
                  <a:tcPr anchor="ctr">
                    <a:solidFill>
                      <a:srgbClr val="FFFFFF"/>
                    </a:solidFill>
                    <a:lnB w="9525">
                      <a:solidFill>
                        <a:srgbClr val="BFBFBF"/>
                      </a:solidFill>
                    </a:lnB>
                  </a:tcPr>
                </a:tc>
                <a:tc>
                  <a:txBody>
                    <a:bodyPr/>
                    <a:lstStyle/>
                    <a:p>
                      <a:pPr algn="ctr"/>
                      <a:r>
                        <a:rPr sz="1600" b="0" i="0">
                          <a:solidFill>
                            <a:srgbClr val="000000"/>
                          </a:solidFill>
                          <a:latin typeface="Times New Roman"/>
                          <a:ea typeface="Times New Roman"/>
                          <a:cs typeface="Times New Roman"/>
                        </a:rPr>
                        <a:t>-</a:t>
                      </a:r>
                    </a:p>
                  </a:txBody>
                  <a:tcPr anchor="ctr">
                    <a:solidFill>
                      <a:srgbClr val="FFFFFF"/>
                    </a:solidFill>
                    <a:lnB w="9525">
                      <a:solidFill>
                        <a:srgbClr val="BFBFBF"/>
                      </a:solidFill>
                    </a:lnB>
                  </a:tcPr>
                </a:tc>
                <a:tc>
                  <a:txBody>
                    <a:bodyPr/>
                    <a:lstStyle/>
                    <a:p>
                      <a:pPr algn="ctr"/>
                      <a:r>
                        <a:rPr sz="1600" b="0" i="0">
                          <a:solidFill>
                            <a:srgbClr val="000000"/>
                          </a:solidFill>
                          <a:latin typeface="Times New Roman"/>
                          <a:ea typeface="Times New Roman"/>
                          <a:cs typeface="Times New Roman"/>
                        </a:rPr>
                        <a:t>-</a:t>
                      </a:r>
                    </a:p>
                  </a:txBody>
                  <a:tcPr anchor="ctr">
                    <a:solidFill>
                      <a:srgbClr val="FFFFFF"/>
                    </a:solidFill>
                    <a:lnB w="9525">
                      <a:solidFill>
                        <a:srgbClr val="BFBFBF"/>
                      </a:solidFill>
                    </a:lnB>
                  </a:tcPr>
                </a:tc>
                <a:tc>
                  <a:txBody>
                    <a:bodyPr/>
                    <a:lstStyle/>
                    <a:p>
                      <a:pPr algn="ctr"/>
                      <a:r>
                        <a:rPr sz="1600" b="1" i="0">
                          <a:solidFill>
                            <a:srgbClr val="000000"/>
                          </a:solidFill>
                          <a:latin typeface="Times New Roman"/>
                          <a:ea typeface="Times New Roman"/>
                          <a:cs typeface="Times New Roman"/>
                        </a:rPr>
                        <a:t>1.0000</a:t>
                      </a:r>
                    </a:p>
                  </a:txBody>
                  <a:tcPr anchor="ctr">
                    <a:solidFill>
                      <a:srgbClr val="FFFFFF"/>
                    </a:solidFill>
                    <a:lnB w="9525">
                      <a:solidFill>
                        <a:srgbClr val="BFBFBF"/>
                      </a:solidFill>
                    </a:lnB>
                  </a:tcPr>
                </a:tc>
              </a:tr>
            </a:tbl>
          </a:graphicData>
        </a:graphic>
      </p:graphicFrame>
      <p:sp>
        <p:nvSpPr>
          <p:cNvPr id="10" name="Rectangle 9"/>
          <p:cNvSpPr/>
          <p:nvPr/>
        </p:nvSpPr>
        <p:spPr>
          <a:xfrm>
            <a:off x="7680960" y="1737360"/>
            <a:ext cx="384048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000000"/>
                </a:solidFill>
                <a:latin typeface="Times New Roman"/>
                <a:ea typeface="Times New Roman"/>
                <a:cs typeface="Times New Roman"/>
              </a:rPr>
              <a:t>86.96%</a:t>
            </a:r>
          </a:p>
          <a:p>
            <a:pPr algn="ctr"/>
            <a:r>
              <a:rPr sz="1400" b="0" i="0">
                <a:solidFill>
                  <a:srgbClr val="000000"/>
                </a:solidFill>
                <a:latin typeface="Times New Roman"/>
                <a:ea typeface="Times New Roman"/>
                <a:cs typeface="Times New Roman"/>
              </a:rPr>
              <a:t>of the 10 Mbps link used</a:t>
            </a:r>
          </a:p>
        </p:txBody>
      </p:sp>
      <p:sp>
        <p:nvSpPr>
          <p:cNvPr id="11" name="Rectangle 10"/>
          <p:cNvSpPr/>
          <p:nvPr/>
        </p:nvSpPr>
        <p:spPr>
          <a:xfrm>
            <a:off x="7680960" y="2971800"/>
            <a:ext cx="384048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000000"/>
                </a:solidFill>
                <a:latin typeface="Times New Roman"/>
                <a:ea typeface="Times New Roman"/>
                <a:cs typeface="Times New Roman"/>
              </a:rPr>
              <a:t>1.0000</a:t>
            </a:r>
          </a:p>
          <a:p>
            <a:pPr algn="ctr"/>
            <a:r>
              <a:rPr sz="1400" b="0" i="0">
                <a:solidFill>
                  <a:srgbClr val="000000"/>
                </a:solidFill>
                <a:latin typeface="Times New Roman"/>
                <a:ea typeface="Times New Roman"/>
                <a:cs typeface="Times New Roman"/>
              </a:rPr>
              <a:t>Jain's Fairness Index (1.0 is equal)</a:t>
            </a:r>
          </a:p>
        </p:txBody>
      </p:sp>
      <p:sp>
        <p:nvSpPr>
          <p:cNvPr id="12" name="Rectangle 11"/>
          <p:cNvSpPr/>
          <p:nvPr/>
        </p:nvSpPr>
        <p:spPr>
          <a:xfrm>
            <a:off x="8028000" y="4176000"/>
            <a:ext cx="3528000" cy="1944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600" b="1" i="0">
                <a:solidFill>
                  <a:srgbClr val="000000"/>
                </a:solidFill>
                <a:latin typeface="Times New Roman"/>
                <a:ea typeface="Times New Roman"/>
                <a:cs typeface="Times New Roman"/>
              </a:rPr>
              <a:t>Training</a:t>
            </a:r>
          </a:p>
          <a:p>
            <a:pPr algn="l">
              <a:spcAft>
                <a:spcPts val="300"/>
              </a:spcAft>
            </a:pPr>
            <a:r>
              <a:rPr sz="1600" b="0" i="0">
                <a:solidFill>
                  <a:srgbClr val="000000"/>
                </a:solidFill>
                <a:latin typeface="Times New Roman"/>
                <a:ea typeface="Times New Roman"/>
                <a:cs typeface="Times New Roman"/>
              </a:rPr>
              <a:t>The shared policy was warm-started by behaviour cloning from a reference controller and then refined with PPO. It holds the window near the bandwidth-delay product of the bottleneck.</a:t>
            </a:r>
          </a:p>
        </p:txBody>
      </p:sp>
      <p:pic>
        <p:nvPicPr>
          <p:cNvPr id="13" name="Picture 12" descr="fig_slide_metrics.png"/>
          <p:cNvPicPr>
            <a:picLocks noChangeAspect="1"/>
          </p:cNvPicPr>
          <p:nvPr/>
        </p:nvPicPr>
        <p:blipFill>
          <a:blip r:embed="rId4"/>
          <a:stretch>
            <a:fillRect/>
          </a:stretch>
        </p:blipFill>
        <p:spPr>
          <a:xfrm>
            <a:off x="648000" y="4176000"/>
            <a:ext cx="7200000" cy="1944000"/>
          </a:xfrm>
          <a:prstGeom prst="rect">
            <a:avLst/>
          </a:prstGeom>
        </p:spPr>
      </p:pic>
    </p:spTree>
    <p:extLst>
      <p:ext uri="{BB962C8B-B14F-4D97-AF65-F5344CB8AC3E}">
        <p14:creationId xmlns:p14="http://schemas.microsoft.com/office/powerpoint/2010/main" val="3794690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8511B-0785-38EC-AB60-02A4DD482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6B00B-A205-82BA-32E1-6307367D59B8}"/>
              </a:ext>
            </a:extLst>
          </p:cNvPr>
          <p:cNvSpPr txBox="1">
            <a:spLocks/>
          </p:cNvSpPr>
          <p:nvPr/>
        </p:nvSpPr>
        <p:spPr>
          <a:xfrm>
            <a:off x="2079522" y="284798"/>
            <a:ext cx="6531078" cy="600106"/>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Times New Roman" panose="020B0503020204020204" pitchFamily="34" charset="0"/>
                <a:cs typeface="Times New Roman" panose="020B0604020202020204" pitchFamily="34" charset="0"/>
                <a:ea typeface="Times New Roman"/>
              </a:rPr>
              <a:t>RESULTS/FINDINGS (CONTINUED)</a:t>
            </a:r>
          </a:p>
        </p:txBody>
      </p:sp>
      <p:pic>
        <p:nvPicPr>
          <p:cNvPr id="3" name="Picture 2">
            <a:extLst>
              <a:ext uri="{FF2B5EF4-FFF2-40B4-BE49-F238E27FC236}">
                <a16:creationId xmlns:a16="http://schemas.microsoft.com/office/drawing/2014/main" id="{1F6189DA-04A0-8E9E-D4EF-6F35A77548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a:extLst>
              <a:ext uri="{FF2B5EF4-FFF2-40B4-BE49-F238E27FC236}">
                <a16:creationId xmlns:a16="http://schemas.microsoft.com/office/drawing/2014/main" id="{B5F5735D-9617-933B-F12B-1EDE8B10981F}"/>
              </a:ext>
            </a:extLst>
          </p:cNvPr>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5" name="Slide Number Placeholder 4">
            <a:extLst>
              <a:ext uri="{FF2B5EF4-FFF2-40B4-BE49-F238E27FC236}">
                <a16:creationId xmlns:a16="http://schemas.microsoft.com/office/drawing/2014/main" id="{FEB7CF86-BB52-C69C-93F2-33287B9B7C37}"/>
              </a:ext>
            </a:extLst>
          </p:cNvPr>
          <p:cNvSpPr>
            <a:spLocks noGrp="1"/>
          </p:cNvSpPr>
          <p:nvPr>
            <p:ph type="sldNum" sz="quarter" idx="12"/>
          </p:nvPr>
        </p:nvSpPr>
        <p:spPr/>
        <p:txBody>
          <a:bodyPr/>
          <a:lstStyle/>
          <a:p>
            <a:fld id="{60CB7500-84E7-42C8-9A57-AC33187A24A8}" type="slidenum">
              <a:rPr lang="en-GB" smtClean="0"/>
              <a:t>9</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721F20B4-7508-85D4-03FC-6B3DF101F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sp>
        <p:nvSpPr>
          <p:cNvPr id="8" name="TextBox 7"/>
          <p:cNvSpPr txBox="1"/>
          <p:nvPr/>
        </p:nvSpPr>
        <p:spPr>
          <a:xfrm>
            <a:off x="640080" y="1371600"/>
            <a:ext cx="10911535" cy="822960"/>
          </a:xfrm>
          <a:prstGeom prst="rect">
            <a:avLst/>
          </a:prstGeom>
          <a:noFill/>
        </p:spPr>
        <p:txBody>
          <a:bodyPr wrap="square" anchor="t" lIns="45720" rIns="45720" tIns="27432" bIns="27432">
            <a:spAutoFit/>
          </a:bodyPr>
          <a:lstStyle/>
          <a:p>
            <a:pPr>
              <a:spcAft>
                <a:spcPts val="0"/>
              </a:spcAft>
            </a:pPr>
            <a:r>
              <a:rPr sz="1800" b="1" i="0">
                <a:solidFill>
                  <a:srgbClr val="000000"/>
                </a:solidFill>
                <a:latin typeface="Times New Roman"/>
                <a:ea typeface="Times New Roman"/>
                <a:cs typeface="Times New Roman"/>
              </a:rPr>
              <a:t>An earlier evaluation produced numbers identical to two standard TCP CUBIC flows. The fault was found and corrected, and the policy now controls the congestion window.</a:t>
            </a:r>
          </a:p>
        </p:txBody>
      </p:sp>
      <p:sp>
        <p:nvSpPr>
          <p:cNvPr id="9" name="Rectangle 8"/>
          <p:cNvSpPr/>
          <p:nvPr/>
        </p:nvSpPr>
        <p:spPr>
          <a:xfrm>
            <a:off x="640080" y="2240280"/>
            <a:ext cx="3454298"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600" b="1" i="0">
                <a:solidFill>
                  <a:srgbClr val="000000"/>
                </a:solidFill>
                <a:latin typeface="Times New Roman"/>
                <a:ea typeface="Times New Roman"/>
                <a:cs typeface="Times New Roman"/>
              </a:rPr>
              <a:t>1. Configuration order</a:t>
            </a:r>
          </a:p>
          <a:p>
            <a:pPr algn="l">
              <a:spcAft>
                <a:spcPts val="300"/>
              </a:spcAft>
            </a:pPr>
            <a:r>
              <a:rPr sz="1500" b="0" i="0">
                <a:solidFill>
                  <a:srgbClr val="000000"/>
                </a:solidFill>
                <a:latin typeface="Times New Roman"/>
                <a:ea typeface="Times New Roman"/>
                <a:cs typeface="Times New Roman"/>
              </a:rPr>
              <a:t>A custom no-op class disables ns-3 congestion control. It was configured before the TCP protocol object existed, so the setting matched nothing.</a:t>
            </a:r>
          </a:p>
        </p:txBody>
      </p:sp>
      <p:sp>
        <p:nvSpPr>
          <p:cNvPr id="10" name="Rectangle 9"/>
          <p:cNvSpPr/>
          <p:nvPr/>
        </p:nvSpPr>
        <p:spPr>
          <a:xfrm>
            <a:off x="4368698" y="2240280"/>
            <a:ext cx="3454298"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600" b="1" i="0">
                <a:solidFill>
                  <a:srgbClr val="000000"/>
                </a:solidFill>
                <a:latin typeface="Times New Roman"/>
                <a:ea typeface="Times New Roman"/>
                <a:cs typeface="Times New Roman"/>
              </a:rPr>
              <a:t>2. Silent default</a:t>
            </a:r>
          </a:p>
          <a:p>
            <a:pPr algn="l">
              <a:spcAft>
                <a:spcPts val="300"/>
              </a:spcAft>
            </a:pPr>
            <a:r>
              <a:rPr sz="1500" b="0" i="0">
                <a:solidFill>
                  <a:srgbClr val="000000"/>
                </a:solidFill>
                <a:latin typeface="Times New Roman"/>
                <a:ea typeface="Times New Roman"/>
                <a:cs typeface="Times New Roman"/>
              </a:rPr>
              <a:t>The configuration function does not report a miss. Every socket used the default, TCP CUBIC, which changed the window on every acknowledgment.</a:t>
            </a:r>
          </a:p>
        </p:txBody>
      </p:sp>
      <p:sp>
        <p:nvSpPr>
          <p:cNvPr id="11" name="Rectangle 10"/>
          <p:cNvSpPr/>
          <p:nvPr/>
        </p:nvSpPr>
        <p:spPr>
          <a:xfrm>
            <a:off x="8097316" y="2240280"/>
            <a:ext cx="3454298" cy="2514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600" b="1" i="0">
                <a:solidFill>
                  <a:srgbClr val="000000"/>
                </a:solidFill>
                <a:latin typeface="Times New Roman"/>
                <a:ea typeface="Times New Roman"/>
                <a:cs typeface="Times New Roman"/>
              </a:rPr>
              <a:t>3. Corrected and verified</a:t>
            </a:r>
          </a:p>
          <a:p>
            <a:pPr algn="l">
              <a:spcAft>
                <a:spcPts val="300"/>
              </a:spcAft>
            </a:pPr>
            <a:r>
              <a:rPr sz="1500" b="0" i="0">
                <a:solidFill>
                  <a:srgbClr val="000000"/>
                </a:solidFill>
                <a:latin typeface="Times New Roman"/>
                <a:ea typeface="Times New Roman"/>
                <a:cs typeface="Times New Roman"/>
              </a:rPr>
              <a:t>The setting now runs after the internet stack installs and aborts on a miss. The program prints the live algorithm name, NoOpTcpCongestion.</a:t>
            </a:r>
          </a:p>
        </p:txBody>
      </p:sp>
      <p:sp>
        <p:nvSpPr>
          <p:cNvPr id="12" name="Rectangle 11"/>
          <p:cNvSpPr/>
          <p:nvPr/>
        </p:nvSpPr>
        <p:spPr>
          <a:xfrm>
            <a:off x="640080" y="4846320"/>
            <a:ext cx="10911535" cy="1417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600" b="1" i="0">
                <a:solidFill>
                  <a:srgbClr val="000000"/>
                </a:solidFill>
                <a:latin typeface="Times New Roman"/>
                <a:ea typeface="Times New Roman"/>
                <a:cs typeface="Times New Roman"/>
              </a:rPr>
              <a:t>What holds now</a:t>
            </a:r>
          </a:p>
          <a:p>
            <a:pPr algn="l">
              <a:spcAft>
                <a:spcPts val="300"/>
              </a:spcAft>
            </a:pPr>
            <a:r>
              <a:rPr sz="1400" b="0" i="0">
                <a:solidFill>
                  <a:srgbClr val="000000"/>
                </a:solidFill>
                <a:latin typeface="Times New Roman"/>
                <a:ea typeface="Times New Roman"/>
                <a:cs typeface="Times New Roman"/>
              </a:rPr>
              <a:t>The RL actions own the window. A constant hold action keeps cwnd at exactly 5,360 bytes, which CUBIC cannot do.</a:t>
            </a:r>
          </a:p>
          <a:p>
            <a:pPr algn="l">
              <a:spcAft>
                <a:spcPts val="300"/>
              </a:spcAft>
            </a:pPr>
            <a:r>
              <a:rPr sz="1400" b="0" i="0">
                <a:solidFill>
                  <a:srgbClr val="000000"/>
                </a:solidFill>
                <a:latin typeface="Times New Roman"/>
                <a:ea typeface="Times New Roman"/>
                <a:cs typeface="Times New Roman"/>
              </a:rPr>
              <a:t>The corrected policy keeps 86.96 percent of the link busy with 22.80 ms delay, no measured loss and a Jain fairness index of 1.0000.</a:t>
            </a:r>
          </a:p>
        </p:txBody>
      </p:sp>
    </p:spTree>
    <p:extLst>
      <p:ext uri="{BB962C8B-B14F-4D97-AF65-F5344CB8AC3E}">
        <p14:creationId xmlns:p14="http://schemas.microsoft.com/office/powerpoint/2010/main" val="3794690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6091A-AADB-110E-A34A-36C311313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2510C-D49A-E94F-5B59-ACD357D92833}"/>
              </a:ext>
            </a:extLst>
          </p:cNvPr>
          <p:cNvSpPr txBox="1">
            <a:spLocks/>
          </p:cNvSpPr>
          <p:nvPr/>
        </p:nvSpPr>
        <p:spPr>
          <a:xfrm>
            <a:off x="2079522" y="284798"/>
            <a:ext cx="6531078" cy="600106"/>
          </a:xfrm>
          <a:prstGeom prst="rect">
            <a:avLst/>
          </a:prstGeom>
        </p:spPr>
        <p:txBody>
          <a:bodyP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Times New Roman" panose="020B0503020204020204" pitchFamily="34" charset="0"/>
                <a:cs typeface="Times New Roman" panose="020B0604020202020204" pitchFamily="34" charset="0"/>
                <a:ea typeface="Times New Roman"/>
              </a:rPr>
              <a:t>CONTRIBUTION TO KNOWLEDGE</a:t>
            </a:r>
          </a:p>
        </p:txBody>
      </p:sp>
      <p:pic>
        <p:nvPicPr>
          <p:cNvPr id="3" name="Picture 2">
            <a:extLst>
              <a:ext uri="{FF2B5EF4-FFF2-40B4-BE49-F238E27FC236}">
                <a16:creationId xmlns:a16="http://schemas.microsoft.com/office/drawing/2014/main" id="{0E0AA747-30A6-6D37-1DE3-60CA4A1BB5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a:extLst>
              <a:ext uri="{FF2B5EF4-FFF2-40B4-BE49-F238E27FC236}">
                <a16:creationId xmlns:a16="http://schemas.microsoft.com/office/drawing/2014/main" id="{62834879-5FB4-89FA-5AC5-2E82A0CA9624}"/>
              </a:ext>
            </a:extLst>
          </p:cNvPr>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5" name="Slide Number Placeholder 4">
            <a:extLst>
              <a:ext uri="{FF2B5EF4-FFF2-40B4-BE49-F238E27FC236}">
                <a16:creationId xmlns:a16="http://schemas.microsoft.com/office/drawing/2014/main" id="{602C8DA8-AB12-0395-F01A-0BF6C1822165}"/>
              </a:ext>
            </a:extLst>
          </p:cNvPr>
          <p:cNvSpPr>
            <a:spLocks noGrp="1"/>
          </p:cNvSpPr>
          <p:nvPr>
            <p:ph type="sldNum" sz="quarter" idx="12"/>
          </p:nvPr>
        </p:nvSpPr>
        <p:spPr/>
        <p:txBody>
          <a:bodyPr/>
          <a:lstStyle/>
          <a:p>
            <a:fld id="{60CB7500-84E7-42C8-9A57-AC33187A24A8}" type="slidenum">
              <a:rPr lang="en-GB" smtClean="0"/>
              <a:t>10</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C1B8E253-56E0-E974-01EF-2EDB6D4982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sp>
        <p:nvSpPr>
          <p:cNvPr id="8" name="Rectangle 7"/>
          <p:cNvSpPr/>
          <p:nvPr/>
        </p:nvSpPr>
        <p:spPr>
          <a:xfrm>
            <a:off x="640080" y="1417320"/>
            <a:ext cx="5318607" cy="2148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800" b="1" i="0">
                <a:solidFill>
                  <a:srgbClr val="000000"/>
                </a:solidFill>
                <a:latin typeface="Times New Roman"/>
                <a:ea typeface="Times New Roman"/>
                <a:cs typeface="Times New Roman"/>
              </a:rPr>
              <a:t>A reference implementation</a:t>
            </a:r>
          </a:p>
          <a:p>
            <a:pPr algn="l">
              <a:spcAft>
                <a:spcPts val="300"/>
              </a:spcAft>
            </a:pPr>
            <a:r>
              <a:rPr sz="1600" b="0" i="0">
                <a:solidFill>
                  <a:srgbClr val="000000"/>
                </a:solidFill>
                <a:latin typeface="Times New Roman"/>
                <a:ea typeface="Times New Roman"/>
                <a:cs typeface="Times New Roman"/>
              </a:rPr>
              <a:t>A cooperative multi-agent formulation of congestion control, built with ns-3, ns3-gym, and PPO, using a reward based on Jain's Fairness Index. Code and models are public: github.com/Ksschkw/CongestiQ-FYP</a:t>
            </a:r>
          </a:p>
        </p:txBody>
      </p:sp>
      <p:sp>
        <p:nvSpPr>
          <p:cNvPr id="9" name="Rectangle 8"/>
          <p:cNvSpPr/>
          <p:nvPr/>
        </p:nvSpPr>
        <p:spPr>
          <a:xfrm>
            <a:off x="6233007" y="1417320"/>
            <a:ext cx="5318607" cy="2148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800" b="1" i="0">
                <a:solidFill>
                  <a:srgbClr val="000000"/>
                </a:solidFill>
                <a:latin typeface="Times New Roman"/>
                <a:ea typeface="Times New Roman"/>
                <a:cs typeface="Times New Roman"/>
              </a:rPr>
              <a:t>Engineering documentation</a:t>
            </a:r>
          </a:p>
          <a:p>
            <a:pPr algn="l">
              <a:spcAft>
                <a:spcPts val="300"/>
              </a:spcAft>
            </a:pPr>
            <a:r>
              <a:rPr sz="1600" b="0" i="0">
                <a:solidFill>
                  <a:srgbClr val="000000"/>
                </a:solidFill>
                <a:latin typeface="Times New Roman"/>
                <a:ea typeface="Times New Roman"/>
                <a:cs typeface="Times New Roman"/>
              </a:rPr>
              <a:t>A record of the failure points when linking Python learning code to the ns-3 C++ transport layer: the throughput bug, the action bug, and a configuration ordering fault that silently left the default TCP algorithm in control.</a:t>
            </a:r>
          </a:p>
        </p:txBody>
      </p:sp>
      <p:sp>
        <p:nvSpPr>
          <p:cNvPr id="10" name="Rectangle 9"/>
          <p:cNvSpPr/>
          <p:nvPr/>
        </p:nvSpPr>
        <p:spPr>
          <a:xfrm>
            <a:off x="640080" y="3749039"/>
            <a:ext cx="5318607" cy="24231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800" b="1" i="0">
                <a:solidFill>
                  <a:srgbClr val="000000"/>
                </a:solidFill>
                <a:latin typeface="Times New Roman"/>
                <a:ea typeface="Times New Roman"/>
                <a:cs typeface="Times New Roman"/>
              </a:rPr>
              <a:t>A systems finding</a:t>
            </a:r>
          </a:p>
          <a:p>
            <a:pPr algn="l">
              <a:spcAft>
                <a:spcPts val="300"/>
              </a:spcAft>
            </a:pPr>
            <a:r>
              <a:rPr sz="1600" b="0" i="0">
                <a:solidFill>
                  <a:srgbClr val="000000"/>
                </a:solidFill>
                <a:latin typeface="Times New Roman"/>
                <a:ea typeface="Times New Roman"/>
                <a:cs typeface="Times New Roman"/>
              </a:rPr>
              <a:t>A congestion control replacement must be attached after the internet stack installs on a node. The configuration API does not report a miss, so a wrong order leaves the native algorithm in control, and every metric then describes that algorithm.</a:t>
            </a:r>
          </a:p>
        </p:txBody>
      </p:sp>
      <p:sp>
        <p:nvSpPr>
          <p:cNvPr id="11" name="Rectangle 10"/>
          <p:cNvSpPr/>
          <p:nvPr/>
        </p:nvSpPr>
        <p:spPr>
          <a:xfrm>
            <a:off x="6233007" y="3749039"/>
            <a:ext cx="5318607" cy="24231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91440"/>
          <a:lstStyle/>
          <a:p>
            <a:pPr algn="l">
              <a:spcAft>
                <a:spcPts val="500"/>
              </a:spcAft>
            </a:pPr>
            <a:r>
              <a:rPr sz="1800" b="1" i="0">
                <a:solidFill>
                  <a:srgbClr val="000000"/>
                </a:solidFill>
                <a:latin typeface="Times New Roman"/>
                <a:ea typeface="Times New Roman"/>
                <a:cs typeface="Times New Roman"/>
              </a:rPr>
              <a:t>Recommended next steps</a:t>
            </a:r>
          </a:p>
          <a:p>
            <a:pPr algn="l">
              <a:spcAft>
                <a:spcPts val="300"/>
              </a:spcAft>
            </a:pPr>
            <a:r>
              <a:rPr sz="1600" b="0" i="0">
                <a:solidFill>
                  <a:srgbClr val="000000"/>
                </a:solidFill>
                <a:latin typeface="Times New Roman"/>
                <a:ea typeface="Times New Roman"/>
                <a:cs typeface="Times New Roman"/>
              </a:rPr>
              <a:t>1. Attach the no-op congestion control after the internet stack installs, and verify it at runtime on a live socket.</a:t>
            </a:r>
          </a:p>
          <a:p>
            <a:pPr algn="l">
              <a:spcAft>
                <a:spcPts val="300"/>
              </a:spcAft>
            </a:pPr>
            <a:r>
              <a:rPr sz="1600" b="0" i="0">
                <a:solidFill>
                  <a:srgbClr val="000000"/>
                </a:solidFill>
                <a:latin typeface="Times New Roman"/>
                <a:ea typeface="Times New Roman"/>
                <a:cs typeface="Times New Roman"/>
              </a:rPr>
              <a:t>2. Compile the trained network into an Extended Berkeley Packet Filter (eBPF) program for the Linux kernel.</a:t>
            </a:r>
          </a:p>
          <a:p>
            <a:pPr algn="l">
              <a:spcAft>
                <a:spcPts val="300"/>
              </a:spcAft>
            </a:pPr>
            <a:r>
              <a:rPr sz="1600" b="0" i="0">
                <a:solidFill>
                  <a:srgbClr val="000000"/>
                </a:solidFill>
                <a:latin typeface="Times New Roman"/>
                <a:ea typeface="Times New Roman"/>
                <a:cs typeface="Times New Roman"/>
              </a:rPr>
              <a:t>3. Test in an emulator such as Mininet.</a:t>
            </a:r>
          </a:p>
          <a:p>
            <a:pPr algn="l">
              <a:spcAft>
                <a:spcPts val="300"/>
              </a:spcAft>
            </a:pPr>
            <a:r>
              <a:rPr sz="1600" b="0" i="0">
                <a:solidFill>
                  <a:srgbClr val="000000"/>
                </a:solidFill>
                <a:latin typeface="Times New Roman"/>
                <a:ea typeface="Times New Roman"/>
                <a:cs typeface="Times New Roman"/>
              </a:rPr>
              <a:t>4. Trigger decisions once per round-trip time, not on a 100 ms timer.</a:t>
            </a:r>
          </a:p>
        </p:txBody>
      </p:sp>
    </p:spTree>
    <p:extLst>
      <p:ext uri="{BB962C8B-B14F-4D97-AF65-F5344CB8AC3E}">
        <p14:creationId xmlns:p14="http://schemas.microsoft.com/office/powerpoint/2010/main" val="1113124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p:cNvSpPr>
          <p:nvPr/>
        </p:nvSpPr>
        <p:spPr>
          <a:xfrm>
            <a:off x="2916844" y="2863029"/>
            <a:ext cx="6471919" cy="14598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6600" b="1" dirty="0">
                <a:latin typeface="Times New Roman" panose="020B0503020204020204" pitchFamily="34" charset="0"/>
                <a:ea typeface="Times New Roman" charset="0"/>
                <a:cs typeface="Times New Roman" charset="0"/>
              </a:rPr>
              <a:t>QUESTIONS?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79920" y="26962"/>
            <a:ext cx="787333" cy="851874"/>
          </a:xfrm>
          <a:prstGeom prst="rect">
            <a:avLst/>
          </a:prstGeom>
        </p:spPr>
      </p:pic>
      <p:sp>
        <p:nvSpPr>
          <p:cNvPr id="4" name="Footer Placeholder 3"/>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5" name="Slide Number Placeholder 4">
            <a:extLst>
              <a:ext uri="{FF2B5EF4-FFF2-40B4-BE49-F238E27FC236}">
                <a16:creationId xmlns:a16="http://schemas.microsoft.com/office/drawing/2014/main" id="{DACB4B0A-D17E-4CDB-A3CE-5970C97DEA10}"/>
              </a:ext>
            </a:extLst>
          </p:cNvPr>
          <p:cNvSpPr>
            <a:spLocks noGrp="1"/>
          </p:cNvSpPr>
          <p:nvPr>
            <p:ph type="sldNum" sz="quarter" idx="12"/>
          </p:nvPr>
        </p:nvSpPr>
        <p:spPr/>
        <p:txBody>
          <a:bodyPr/>
          <a:lstStyle/>
          <a:p>
            <a:fld id="{60CB7500-84E7-42C8-9A57-AC33187A24A8}" type="slidenum">
              <a:rPr lang="en-GB" smtClean="0"/>
              <a:t>11</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CCACE4D8-B727-00FB-6E4F-4CF49BCB08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747" y="202497"/>
            <a:ext cx="1028700" cy="476250"/>
          </a:xfrm>
          <a:prstGeom prst="rect">
            <a:avLst/>
          </a:prstGeom>
        </p:spPr>
      </p:pic>
    </p:spTree>
    <p:extLst>
      <p:ext uri="{BB962C8B-B14F-4D97-AF65-F5344CB8AC3E}">
        <p14:creationId xmlns:p14="http://schemas.microsoft.com/office/powerpoint/2010/main" val="3662799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p:cNvSpPr>
          <p:nvPr/>
        </p:nvSpPr>
        <p:spPr>
          <a:xfrm>
            <a:off x="1603332" y="1427967"/>
            <a:ext cx="7828767" cy="21294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6600" b="1" dirty="0">
                <a:latin typeface="Times New Roman" panose="020B0503020204020204" pitchFamily="34" charset="0"/>
                <a:ea typeface="Times New Roman" charset="0"/>
                <a:cs typeface="Times New Roman" charset="0"/>
              </a:rPr>
              <a:t>Thank you for listening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53800" y="77274"/>
            <a:ext cx="719178" cy="778132"/>
          </a:xfrm>
          <a:prstGeom prst="rect">
            <a:avLst/>
          </a:prstGeom>
        </p:spPr>
      </p:pic>
      <p:sp>
        <p:nvSpPr>
          <p:cNvPr id="4" name="Footer Placeholder 3"/>
          <p:cNvSpPr>
            <a:spLocks noGrp="1"/>
          </p:cNvSpPr>
          <p:nvPr>
            <p:ph type="ftr" sz="quarter" idx="11"/>
          </p:nvPr>
        </p:nvSpPr>
        <p:spPr/>
        <p:txBody>
          <a:bodyPr/>
          <a:lstStyle/>
          <a:p>
            <a:r>
              <a:rPr lang="en-US" dirty="0">
                <a:latin typeface="Times New Roman"/>
                <a:ea typeface="Times New Roman"/>
                <a:cs typeface="Times New Roman"/>
              </a:rPr>
              <a:t>Department of Software Engineering -  Project ©2025</a:t>
            </a:r>
            <a:endParaRPr lang="en-GB" dirty="0"/>
          </a:p>
        </p:txBody>
      </p:sp>
      <p:sp>
        <p:nvSpPr>
          <p:cNvPr id="5" name="Slide Number Placeholder 4">
            <a:extLst>
              <a:ext uri="{FF2B5EF4-FFF2-40B4-BE49-F238E27FC236}">
                <a16:creationId xmlns:a16="http://schemas.microsoft.com/office/drawing/2014/main" id="{DACB4B0A-D17E-4CDB-A3CE-5970C97DEA10}"/>
              </a:ext>
            </a:extLst>
          </p:cNvPr>
          <p:cNvSpPr>
            <a:spLocks noGrp="1"/>
          </p:cNvSpPr>
          <p:nvPr>
            <p:ph type="sldNum" sz="quarter" idx="12"/>
          </p:nvPr>
        </p:nvSpPr>
        <p:spPr/>
        <p:txBody>
          <a:bodyPr/>
          <a:lstStyle/>
          <a:p>
            <a:fld id="{60CB7500-84E7-42C8-9A57-AC33187A24A8}" type="slidenum">
              <a:rPr lang="en-GB" smtClean="0"/>
              <a:t>12</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A030377E-0F32-F427-E999-860F55DEB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747" y="77274"/>
            <a:ext cx="1028700" cy="476250"/>
          </a:xfrm>
          <a:prstGeom prst="rect">
            <a:avLst/>
          </a:prstGeom>
        </p:spPr>
      </p:pic>
    </p:spTree>
    <p:extLst>
      <p:ext uri="{BB962C8B-B14F-4D97-AF65-F5344CB8AC3E}">
        <p14:creationId xmlns:p14="http://schemas.microsoft.com/office/powerpoint/2010/main" val="3221025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2105</TotalTime>
  <Words>237</Words>
  <Application>Microsoft Office PowerPoint</Application>
  <PresentationFormat>Widescreen</PresentationFormat>
  <Paragraphs>47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Corbel</vt:lpstr>
      <vt:lpstr>Office Theme</vt:lpstr>
      <vt:lpstr>PowerPoint Presentation</vt:lpstr>
      <vt:lpstr>YOUR PROJECT TITLE HERE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CHECKLIST FOR PRESENTERS   cover slide: please provide us with your name, your department and your nationality. Do not change any of the logos or the layout of the cover slide and enter your information only in the placeholders provided using the same font/siz  first content slide: explain the particular cyber security challenge you want to solve as the problem domain.  second content slide: make sure to explain your proposed solution to combating cyber crime in Nigeria. Restrict your solution to a single point that can be developed further in a full blown research work.  Please keep in mind that you have 5min to make your presentation before the question and answer section will commence.</dc:title>
  <dc:creator>Amadi</dc:creator>
  <cp:lastModifiedBy>Charles Ikerionwu</cp:lastModifiedBy>
  <cp:revision>28</cp:revision>
  <cp:lastPrinted>2018-08-23T20:36:32Z</cp:lastPrinted>
  <dcterms:created xsi:type="dcterms:W3CDTF">2018-07-05T09:04:15Z</dcterms:created>
  <dcterms:modified xsi:type="dcterms:W3CDTF">2025-02-05T15:37:25Z</dcterms:modified>
</cp:coreProperties>
</file>